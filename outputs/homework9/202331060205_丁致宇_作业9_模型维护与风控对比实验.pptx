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作业9：模型维护与风控对比实验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D1D5DB"/>
                </a:solidFill>
                <a:latin typeface="Microsoft YaHei"/>
              </a:rPr>
              <a:t>协整套利静态中枢、ADF动态风控与长期持有基准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7315200" cy="8046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贵州茅台 vs 泸州老窖</a:t>
            </a:r>
            <a:br/>
            <a:r>
              <a:rPr sz="2700" b="1">
                <a:solidFill>
                  <a:srgbClr val="FFFFFF"/>
                </a:solidFill>
                <a:latin typeface="Microsoft YaHei"/>
              </a:rPr>
              <a:t>2015-2024 日度收盘价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321808"/>
            <a:ext cx="713232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Microsoft YaHei"/>
              </a:rPr>
              <a:t>学生：丁致宇    学号：202331060205</a:t>
            </a:r>
            <a:br/>
            <a:r>
              <a:rPr sz="1300" b="0">
                <a:solidFill>
                  <a:srgbClr val="D1D5DB"/>
                </a:solidFill>
                <a:latin typeface="Microsoft YaHei"/>
              </a:rPr>
              <a:t>课程：金融与经济数据挖掘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434840"/>
            <a:ext cx="123444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500" b="1">
                <a:solidFill>
                  <a:srgbClr val="D97706"/>
                </a:solidFill>
                <a:latin typeface="Microsoft YaHe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937759"/>
            <a:ext cx="12344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80" b="0">
                <a:solidFill>
                  <a:srgbClr val="475569"/>
                </a:solidFill>
                <a:latin typeface="Microsoft YaHei"/>
              </a:rPr>
              <a:t>B1窗口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4434840"/>
            <a:ext cx="123444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500" b="1">
                <a:solidFill>
                  <a:srgbClr val="059669"/>
                </a:solidFill>
                <a:latin typeface="Microsoft YaHe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4937759"/>
            <a:ext cx="12344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80" b="0">
                <a:solidFill>
                  <a:srgbClr val="475569"/>
                </a:solidFill>
                <a:latin typeface="Microsoft YaHei"/>
              </a:rPr>
              <a:t>B1通过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4434840"/>
            <a:ext cx="109728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500" b="1">
                <a:solidFill>
                  <a:srgbClr val="DC2626"/>
                </a:solidFill>
                <a:latin typeface="Microsoft YaHei"/>
              </a:rPr>
              <a:t>0.000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4937759"/>
            <a:ext cx="10972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80" b="0">
                <a:solidFill>
                  <a:srgbClr val="475569"/>
                </a:solidFill>
                <a:latin typeface="Microsoft YaHei"/>
              </a:rPr>
              <a:t>期初p值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B1贴合教师指令，B2作为审查后的防未来函数对照。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2461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9304"/>
            <a:ext cx="291693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40" b="1">
                <a:solidFill>
                  <a:srgbClr val="2563EB"/>
                </a:solidFill>
                <a:latin typeface="Microsoft YaHei"/>
              </a:rPr>
              <a:t>数据与价差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73352"/>
            <a:ext cx="2916936" cy="97840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Microsoft YaHei"/>
              </a:rPr>
              <a:t>2015-2024日度收盘价</a:t>
            </a:r>
            <a:br/>
            <a:r>
              <a:rPr sz="1050" b="0">
                <a:solidFill>
                  <a:srgbClr val="1F2937"/>
                </a:solidFill>
                <a:latin typeface="Microsoft YaHei"/>
              </a:rPr>
              <a:t>spread = ln(茅台) - ln(老窖)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143000"/>
            <a:ext cx="32461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289304"/>
            <a:ext cx="291693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40" b="1">
                <a:solidFill>
                  <a:srgbClr val="DC2626"/>
                </a:solidFill>
                <a:latin typeface="Microsoft YaHei"/>
              </a:rPr>
              <a:t>方案A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673352"/>
            <a:ext cx="2916936" cy="97840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Microsoft YaHei"/>
              </a:rPr>
              <a:t>2015-2017一次性估计μ、σ</a:t>
            </a:r>
            <a:br/>
            <a:r>
              <a:rPr sz="1050" b="0">
                <a:solidFill>
                  <a:srgbClr val="1F2937"/>
                </a:solidFill>
                <a:latin typeface="Microsoft YaHei"/>
              </a:rPr>
              <a:t>2018-2024固定阈值不调整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143000"/>
            <a:ext cx="306324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289304"/>
            <a:ext cx="273405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40" b="1">
                <a:solidFill>
                  <a:srgbClr val="059669"/>
                </a:solidFill>
                <a:latin typeface="Microsoft YaHei"/>
              </a:rPr>
              <a:t>方案B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1673352"/>
            <a:ext cx="2734056" cy="97840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Microsoft YaHei"/>
              </a:rPr>
              <a:t>B1半年窗口内ADF</a:t>
            </a:r>
            <a:br/>
            <a:r>
              <a:rPr sz="1050" b="0">
                <a:solidFill>
                  <a:srgbClr val="1F2937"/>
                </a:solidFill>
                <a:latin typeface="Microsoft YaHei"/>
              </a:rPr>
              <a:t>B2最近三年滚动ADF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794760"/>
            <a:ext cx="48006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3941064"/>
            <a:ext cx="447141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40" b="1">
                <a:solidFill>
                  <a:srgbClr val="D97706"/>
                </a:solidFill>
                <a:latin typeface="Microsoft YaHei"/>
              </a:rPr>
              <a:t>交易规则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4325112"/>
            <a:ext cx="4471416" cy="6126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Microsoft YaHei"/>
              </a:rPr>
              <a:t>价差突破上轨做空价差，跌破下轨做多价差；等权多空，单腿50%。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94760"/>
            <a:ext cx="48006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941064"/>
            <a:ext cx="447141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40" b="1">
                <a:solidFill>
                  <a:srgbClr val="2563EB"/>
                </a:solidFill>
                <a:latin typeface="Microsoft YaHei"/>
              </a:rPr>
              <a:t>方案C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325112"/>
            <a:ext cx="4471416" cy="6126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Microsoft YaHei"/>
              </a:rPr>
              <a:t>2018首个交易日买入茅台或老窖并持有至2024年底，作为价值投资基准。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价格与价差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竖线为2018年样本外回测起点。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ice_and_sp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918" y="1115568"/>
            <a:ext cx="8313682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方案A：静态中枢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固定期初μ和σ，后续中枢漂移不触发模型维护。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tic_thresho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957" y="1115568"/>
            <a:ext cx="10013605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方案B1：教师指令版动态风控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红色淡区表示该半年窗口ADF未通过时空仓。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ynamic_thresho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957" y="1115568"/>
            <a:ext cx="10013605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净值曲线对比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配对套利与长期持有的收益来源不同。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ategy_na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960" y="1115568"/>
            <a:ext cx="9683599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绩效指标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累计收益、回撤和空仓时长共同反映风控差异。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07008"/>
          <a:ext cx="110642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</a:rPr>
                        <a:t>策略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</a:rPr>
                        <a:t>累计收益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</a:rPr>
                        <a:t>最大回撤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</a:rPr>
                        <a:t>调仓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</a:rPr>
                        <a:t>空仓天数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</a:rPr>
                        <a:t>风控空仓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A 静态无风控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35.4%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-18.9%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B1 教师指令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0.0%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0.0%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1699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1699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B2 防未来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-5.0%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-9.5%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1580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1456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C1 茅台持有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116.5%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-51.5%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C2 老窖持有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90.3%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-68.1%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>
                          <a:solidFill>
                            <a:srgbClr val="1F2937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drawdow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350" y="3794760"/>
            <a:ext cx="4495379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半年ADF维护记录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左图为B1教师指令版；B2防未来函数版保存在补充CSV和图表中。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ynamic_adf_p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04737"/>
            <a:ext cx="6537960" cy="326000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43800" y="1234440"/>
          <a:ext cx="4251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990"/>
                <a:gridCol w="1062990"/>
                <a:gridCol w="1062990"/>
                <a:gridCol w="106299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交易窗口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p值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交易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中枢漂移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2018-01-02~2018-06-29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0.420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0.197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2018-07-02~2018-12-28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0.101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0.412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2019-01-02~2019-06-28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0.791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0.374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2019-07-01~2019-12-31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0.767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0.319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2020-01-02~2020-06-30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0.260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0.437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2020-07-01~2020-12-31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0.815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0.179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2021-01-04~2021-06-30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0.297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-0.095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2021-07-01~2021-12-31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0.597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F2937"/>
                          </a:solidFill>
                          <a:latin typeface="Microsoft YaHei"/>
                        </a:rPr>
                        <a:t>-0.094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模型维护不是提高收益的装饰项，而是统计套利能否继续交易的前提检查。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38328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9304"/>
            <a:ext cx="305409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40" b="1">
                <a:solidFill>
                  <a:srgbClr val="DC2626"/>
                </a:solidFill>
                <a:latin typeface="Microsoft YaHei"/>
              </a:rPr>
              <a:t>静态方案风险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73352"/>
            <a:ext cx="3054096" cy="97840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Microsoft YaHei"/>
              </a:rPr>
              <a:t>旧中枢长期固定，遇到估值结构变化时可能把漂移误判成套利信号。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143000"/>
            <a:ext cx="338328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289304"/>
            <a:ext cx="305409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40" b="1">
                <a:solidFill>
                  <a:srgbClr val="059669"/>
                </a:solidFill>
                <a:latin typeface="Microsoft YaHei"/>
              </a:rPr>
              <a:t>动态风控价值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673352"/>
            <a:ext cx="3054096" cy="97840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Microsoft YaHei"/>
              </a:rPr>
              <a:t>B1贴合课堂指令，B2避免未来函数；两者都用ADF决定是否交易。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143000"/>
            <a:ext cx="306324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289304"/>
            <a:ext cx="273405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40" b="1">
                <a:solidFill>
                  <a:srgbClr val="2563EB"/>
                </a:solidFill>
                <a:latin typeface="Microsoft YaHei"/>
              </a:rPr>
              <a:t>长期持有基准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1673352"/>
            <a:ext cx="2734056" cy="97840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Microsoft YaHei"/>
              </a:rPr>
              <a:t>单边趋势收益强时可胜出，但风险来源和配对套利完全不同。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94760"/>
            <a:ext cx="10287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941064"/>
            <a:ext cx="995781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40" b="1">
                <a:solidFill>
                  <a:srgbClr val="D97706"/>
                </a:solidFill>
                <a:latin typeface="Microsoft YaHei"/>
              </a:rPr>
              <a:t>最终判断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325112"/>
            <a:ext cx="9957816" cy="6126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Microsoft YaHei"/>
              </a:rPr>
              <a:t>协整套利策略必须持续监控ADF p值、中枢漂移、阈值稳定性和回撤路径；配对收益按等权多空总资金口径统计。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