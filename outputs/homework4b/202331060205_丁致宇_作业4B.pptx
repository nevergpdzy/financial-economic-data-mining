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9875520" cy="6583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作业4B：中频短线量化全流程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8961120" cy="34747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0">
                <a:solidFill>
                  <a:srgbClr val="C7D2DE"/>
                </a:solidFill>
                <a:latin typeface="Microsoft YaHei"/>
              </a:rPr>
              <a:t>因子挖掘 → IC/共线质检 → LGBM赋权 → 1~2日持仓样本外回测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440680"/>
            <a:ext cx="6583680" cy="6400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学生：丁致宇    学号：202331060205</a:t>
            </a:r>
            <a:br/>
            <a:r>
              <a:rPr sz="1200" b="0">
                <a:solidFill>
                  <a:srgbClr val="FFFFFF"/>
                </a:solidFill>
                <a:latin typeface="Microsoft YaHei"/>
              </a:rPr>
              <a:t>课程：金融与经济数据挖掘    日期：2026年6月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4526280"/>
            <a:ext cx="1783080" cy="47548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ctr"/>
            <a:r>
              <a:rPr sz="3000" b="1">
                <a:solidFill>
                  <a:srgbClr val="F29E38"/>
                </a:solidFill>
                <a:latin typeface="Microsoft YaHei"/>
              </a:rPr>
              <a:t>15.37%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5029200"/>
            <a:ext cx="178308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50" b="0">
                <a:solidFill>
                  <a:srgbClr val="C7D2DE"/>
                </a:solidFill>
                <a:latin typeface="Microsoft YaHei"/>
              </a:rPr>
              <a:t>样本外累计收益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8440" y="4526280"/>
            <a:ext cx="1828800" cy="47548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ctr"/>
            <a:r>
              <a:rPr sz="2800" b="1">
                <a:solidFill>
                  <a:srgbClr val="F06A5D"/>
                </a:solidFill>
                <a:latin typeface="Microsoft YaHei"/>
              </a:rPr>
              <a:t>-40.59%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5029200"/>
            <a:ext cx="182880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50" b="0">
                <a:solidFill>
                  <a:srgbClr val="C7D2DE"/>
                </a:solidFill>
                <a:latin typeface="Microsoft YaHei"/>
              </a:rPr>
              <a:t>最大回撤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6213E"/>
                </a:solidFill>
                <a:latin typeface="Microsoft YaHei"/>
              </a:rPr>
              <a:t>审查结论：旧版本存在口径偏差，已重算修正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058400" cy="310896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icrosoft YaHei"/>
              </a:rPr>
              <a:t>本版严格按作业4B要求复现四因子流程，样本外区间只用于回测。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38328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81328"/>
            <a:ext cx="301752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C2413B"/>
                </a:solidFill>
                <a:latin typeface="Microsoft YaHei"/>
              </a:rPr>
              <a:t>发现的问题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56231"/>
            <a:ext cx="3017520" cy="1188719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16213E"/>
                </a:solidFill>
                <a:latin typeface="Microsoft YaHei"/>
              </a:rPr>
              <a:t>1. 原结果混入4个扩展因子</a:t>
            </a:r>
            <a:br/>
            <a:r>
              <a:rPr sz="1150" b="0">
                <a:solidFill>
                  <a:srgbClr val="16213E"/>
                </a:solidFill>
                <a:latin typeface="Microsoft YaHei"/>
              </a:rPr>
              <a:t>2. IC/OLS覆盖了样本外年份</a:t>
            </a:r>
            <a:br/>
            <a:r>
              <a:rPr sz="1150" b="0">
                <a:solidFill>
                  <a:srgbClr val="16213E"/>
                </a:solidFill>
                <a:latin typeface="Microsoft YaHei"/>
              </a:rPr>
              <a:t>3. 全样本缩尾存在预处理污染</a:t>
            </a:r>
            <a:br/>
            <a:r>
              <a:rPr sz="1150" b="0">
                <a:solidFill>
                  <a:srgbClr val="16213E"/>
                </a:solidFill>
                <a:latin typeface="Microsoft YaHei"/>
              </a:rPr>
              <a:t>4. PPT写死旧指标，无法反映新结果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38328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481328"/>
            <a:ext cx="301752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0B6E69"/>
                </a:solidFill>
                <a:latin typeface="Microsoft YaHei"/>
              </a:rPr>
              <a:t>修复动作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856231"/>
            <a:ext cx="3017520" cy="1188719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16213E"/>
                </a:solidFill>
                <a:latin typeface="Microsoft YaHei"/>
              </a:rPr>
              <a:t>1. 因子改回Reversal/Liquidity/MoneyFlow/Value</a:t>
            </a:r>
            <a:br/>
            <a:r>
              <a:rPr sz="1150" b="0">
                <a:solidFill>
                  <a:srgbClr val="16213E"/>
                </a:solidFill>
                <a:latin typeface="Microsoft YaHei"/>
              </a:rPr>
              <a:t>2. 质检仅使用2020-2023训练集</a:t>
            </a:r>
            <a:br/>
            <a:r>
              <a:rPr sz="1150" b="0">
                <a:solidFill>
                  <a:srgbClr val="16213E"/>
                </a:solidFill>
                <a:latin typeface="Microsoft YaHei"/>
              </a:rPr>
              <a:t>3. 缩尾改为交易日截面3σ</a:t>
            </a:r>
            <a:br/>
            <a:r>
              <a:rPr sz="1150" b="0">
                <a:solidFill>
                  <a:srgbClr val="16213E"/>
                </a:solidFill>
                <a:latin typeface="Microsoft YaHei"/>
              </a:rPr>
              <a:t>4. 回测修正成本、末日结算与基准起点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15468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1481328"/>
            <a:ext cx="278892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43A047"/>
                </a:solidFill>
                <a:latin typeface="Microsoft YaHei"/>
              </a:rPr>
              <a:t>最终口径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1856231"/>
            <a:ext cx="2788920" cy="1188719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16213E"/>
                </a:solidFill>
                <a:latin typeface="Microsoft YaHei"/>
              </a:rPr>
              <a:t>训练集：2020-2023</a:t>
            </a:r>
            <a:br/>
            <a:r>
              <a:rPr sz="1150" b="0">
                <a:solidFill>
                  <a:srgbClr val="16213E"/>
                </a:solidFill>
                <a:latin typeface="Microsoft YaHei"/>
              </a:rPr>
              <a:t>样本外：2024-01-02 ~ 2025-12-31</a:t>
            </a:r>
            <a:br/>
            <a:r>
              <a:rPr sz="1150" b="0">
                <a:solidFill>
                  <a:srgbClr val="16213E"/>
                </a:solidFill>
                <a:latin typeface="Microsoft YaHei"/>
              </a:rPr>
              <a:t>股票池：沪深300成分股</a:t>
            </a:r>
            <a:br/>
            <a:r>
              <a:rPr sz="1150" b="0">
                <a:solidFill>
                  <a:srgbClr val="16213E"/>
                </a:solidFill>
                <a:latin typeface="Microsoft YaHei"/>
              </a:rPr>
              <a:t>交易：每日Top5等权调仓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51960"/>
            <a:ext cx="1051560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6213E"/>
                </a:solidFill>
                <a:latin typeface="Microsoft YaHei"/>
              </a:rPr>
              <a:t>本页用于说明对AI初稿的人工审查与修补，后续所有图表均来自修复后重跑结果。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6213E"/>
                </a:solidFill>
                <a:latin typeface="Microsoft YaHei"/>
              </a:rPr>
              <a:t>数据与样本隔离设计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058400" cy="310896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icrosoft YaHei"/>
              </a:rPr>
              <a:t>本地Parquet数据：日频K线、daily_basic、5分钟线、财务指标、北向资金、沪深300指数。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2011680" cy="47548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ctr"/>
            <a:r>
              <a:rPr sz="2800" b="1">
                <a:solidFill>
                  <a:srgbClr val="0B6E69"/>
                </a:solidFill>
                <a:latin typeface="Microsoft YaHei"/>
              </a:rPr>
              <a:t>274,669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201168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50" b="0">
                <a:solidFill>
                  <a:srgbClr val="4A5568"/>
                </a:solidFill>
                <a:latin typeface="Microsoft YaHei"/>
              </a:rPr>
              <a:t>训练样本行数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325880"/>
            <a:ext cx="2011680" cy="47548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ctr"/>
            <a:r>
              <a:rPr sz="2800" b="1">
                <a:solidFill>
                  <a:srgbClr val="0B6E69"/>
                </a:solidFill>
                <a:latin typeface="Microsoft YaHei"/>
              </a:rPr>
              <a:t>144,566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828800"/>
            <a:ext cx="201168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50" b="0">
                <a:solidFill>
                  <a:srgbClr val="4A5568"/>
                </a:solidFill>
                <a:latin typeface="Microsoft YaHei"/>
              </a:rPr>
              <a:t>回测样本行数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325880"/>
            <a:ext cx="2011680" cy="47548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ctr"/>
            <a:r>
              <a:rPr sz="3000" b="1">
                <a:solidFill>
                  <a:srgbClr val="0B6E69"/>
                </a:solidFill>
                <a:latin typeface="Microsoft YaHei"/>
              </a:rPr>
              <a:t>970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828800"/>
            <a:ext cx="201168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50" b="0">
                <a:solidFill>
                  <a:srgbClr val="4A5568"/>
                </a:solidFill>
                <a:latin typeface="Microsoft YaHei"/>
              </a:rPr>
              <a:t>训练IC截面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325880"/>
            <a:ext cx="2011680" cy="47548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ctr"/>
            <a:r>
              <a:rPr sz="3000" b="1">
                <a:solidFill>
                  <a:srgbClr val="0B6E69"/>
                </a:solidFill>
                <a:latin typeface="Microsoft YaHei"/>
              </a:rPr>
              <a:t>485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828800"/>
            <a:ext cx="201168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50" b="0">
                <a:solidFill>
                  <a:srgbClr val="4A5568"/>
                </a:solidFill>
                <a:latin typeface="Microsoft YaHei"/>
              </a:rPr>
              <a:t>样本外交易日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1325880"/>
            <a:ext cx="2011680" cy="47548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ctr"/>
            <a:r>
              <a:rPr sz="3000" b="1">
                <a:solidFill>
                  <a:srgbClr val="0B6E69"/>
                </a:solidFill>
                <a:latin typeface="Microsoft YaHei"/>
              </a:rPr>
              <a:t>299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1828800"/>
            <a:ext cx="201168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50" b="0">
                <a:solidFill>
                  <a:srgbClr val="4A5568"/>
                </a:solidFill>
                <a:latin typeface="Microsoft YaHei"/>
              </a:rPr>
              <a:t>股票数量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788920"/>
            <a:ext cx="530352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944368"/>
            <a:ext cx="4937759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0B6E69"/>
                </a:solidFill>
                <a:latin typeface="Microsoft YaHei"/>
              </a:rPr>
              <a:t>时间切分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319272"/>
            <a:ext cx="4937759" cy="1325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16213E"/>
                </a:solidFill>
                <a:latin typeface="Microsoft YaHei"/>
              </a:rPr>
              <a:t>训练集：2020-01-02 至 2023-12-29，用于因子质检、单因子OLS和LGBM训练。</a:t>
            </a:r>
            <a:br/>
            <a:r>
              <a:rPr sz="1150" b="0">
                <a:solidFill>
                  <a:srgbClr val="16213E"/>
                </a:solidFill>
                <a:latin typeface="Microsoft YaHei"/>
              </a:rPr>
              <a:t>回测集：2024-01-02 至 2025-12-31，仅用于样本外打分、交易和绩效评价。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788920"/>
            <a:ext cx="502920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944368"/>
            <a:ext cx="466344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0B6E69"/>
                </a:solidFill>
                <a:latin typeface="Microsoft YaHei"/>
              </a:rPr>
              <a:t>数据限制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319272"/>
            <a:ext cx="4663440" cy="1325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16213E"/>
                </a:solidFill>
                <a:latin typeface="Microsoft YaHei"/>
              </a:rPr>
              <a:t>配套数据没有个股级 moneyflow_stock 的 buy_amount/sell_amount 字段，仅有市场级 moneyflow_hsgt。因此MoneyFlow采用个股成交额方向代理；去极值按交易日截面3σ执行。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6213E"/>
                </a:solidFill>
                <a:latin typeface="Microsoft YaHei"/>
              </a:rPr>
              <a:t>四个中频短线因子定义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058400" cy="310896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icrosoft YaHei"/>
              </a:rPr>
              <a:t>只使用作业要求的4个因子，不再引入Momentum、Volatility、Turnover、VolumeChange。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17320"/>
          <a:ext cx="107899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4572000"/>
                <a:gridCol w="48006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因子</a:t>
                      </a:r>
                    </a:p>
                  </a:txBody>
                  <a:tcPr>
                    <a:solidFill>
                      <a:srgbClr val="0B6E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定义</a:t>
                      </a:r>
                    </a:p>
                  </a:txBody>
                  <a:tcPr>
                    <a:solidFill>
                      <a:srgbClr val="0B6E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含义</a:t>
                      </a:r>
                    </a:p>
                  </a:txBody>
                  <a:tcPr>
                    <a:solidFill>
                      <a:srgbClr val="0B6E6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13E"/>
                          </a:solidFill>
                          <a:latin typeface="Microsoft YaHei"/>
                        </a:rPr>
                        <a:t>Reversal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13E"/>
                          </a:solidFill>
                          <a:latin typeface="Microsoft YaHei"/>
                        </a:rPr>
                        <a:t>-当日个股收益率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13E"/>
                          </a:solidFill>
                          <a:latin typeface="Microsoft YaHei"/>
                        </a:rPr>
                        <a:t>短线反转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13E"/>
                          </a:solidFill>
                          <a:latin typeface="Microsoft YaHei"/>
                        </a:rPr>
                        <a:t>Liquidity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13E"/>
                          </a:solidFill>
                          <a:latin typeface="Microsoft YaHei"/>
                        </a:rPr>
                        <a:t>|当日收益率| / 日成交额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13E"/>
                          </a:solidFill>
                          <a:latin typeface="Microsoft YaHei"/>
                        </a:rPr>
                        <a:t>交易摩擦/流动性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13E"/>
                          </a:solidFill>
                          <a:latin typeface="Microsoft YaHei"/>
                        </a:rPr>
                        <a:t>MoneyFlow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13E"/>
                          </a:solidFill>
                          <a:latin typeface="Microsoft YaHei"/>
                        </a:rPr>
                        <a:t>5日滚动签名成交额净流入 / 流通市值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13E"/>
                          </a:solidFill>
                          <a:latin typeface="Microsoft YaHei"/>
                        </a:rPr>
                        <a:t>个股资金流入流出代理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13E"/>
                          </a:solidFill>
                          <a:latin typeface="Microsoft YaHei"/>
                        </a:rPr>
                        <a:t>Value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13E"/>
                          </a:solidFill>
                          <a:latin typeface="Microsoft YaHei"/>
                        </a:rPr>
                        <a:t>1 / PE_TTM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6213E"/>
                          </a:solidFill>
                          <a:latin typeface="Microsoft YaHei"/>
                        </a:rPr>
                        <a:t>低估值正向化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160520"/>
            <a:ext cx="52578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315968"/>
            <a:ext cx="489204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0B6E69"/>
                </a:solidFill>
                <a:latin typeface="Microsoft YaHei"/>
              </a:rPr>
              <a:t>MoneyFlow代理口径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90872"/>
            <a:ext cx="4892040" cy="7315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16213E"/>
                </a:solidFill>
                <a:latin typeface="Microsoft YaHei"/>
              </a:rPr>
              <a:t>签名成交额 = amount / 10 × sign(ret)，其中amount为千元、circ_mv为万元；先按股票滚动5日求和，再除以流通市值。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4160520"/>
            <a:ext cx="50749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4315968"/>
            <a:ext cx="4709159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0B6E69"/>
                </a:solidFill>
                <a:latin typeface="Microsoft YaHei"/>
              </a:rPr>
              <a:t>目标标签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4690872"/>
            <a:ext cx="4709159" cy="7315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16213E"/>
                </a:solidFill>
                <a:latin typeface="Microsoft YaHei"/>
              </a:rPr>
              <a:t>标签为个股次日超额收益 next_excess_ret，用于IC、OLS和LGBM训练；回测收益按持仓股票下一交易日ret结算。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6213E"/>
                </a:solidFill>
                <a:latin typeface="Microsoft YaHei"/>
              </a:rPr>
              <a:t>训练集因子质检：IC/IR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058400" cy="310896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icrosoft YaHei"/>
              </a:rPr>
              <a:t>IC为当期因子与次日超额收益的日度截面Spearman相关；只在2020-2023训练集上计算。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234440"/>
          <a:ext cx="667512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005840"/>
                <a:gridCol w="1005840"/>
                <a:gridCol w="1005840"/>
                <a:gridCol w="1051560"/>
                <a:gridCol w="1280160"/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因子</a:t>
                      </a:r>
                    </a:p>
                  </a:txBody>
                  <a:tcPr>
                    <a:solidFill>
                      <a:srgbClr val="0B6E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IC均值</a:t>
                      </a:r>
                    </a:p>
                  </a:txBody>
                  <a:tcPr>
                    <a:solidFill>
                      <a:srgbClr val="0B6E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IR值</a:t>
                      </a:r>
                    </a:p>
                  </a:txBody>
                  <a:tcPr>
                    <a:solidFill>
                      <a:srgbClr val="0B6E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t统计量</a:t>
                      </a:r>
                    </a:p>
                  </a:txBody>
                  <a:tcPr>
                    <a:solidFill>
                      <a:srgbClr val="0B6E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有效判定</a:t>
                      </a:r>
                    </a:p>
                  </a:txBody>
                  <a:tcPr>
                    <a:solidFill>
                      <a:srgbClr val="0B6E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样本数</a:t>
                      </a:r>
                    </a:p>
                  </a:txBody>
                  <a:tcPr>
                    <a:solidFill>
                      <a:srgbClr val="0B6E6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Reversal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0.0252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0.1446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4.96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有效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970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Liquidity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0.0224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0.1997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6.09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有效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970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MoneyFlow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-0.0228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-0.1419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-5.21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有效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970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Value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0.0117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0.0480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1.47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边缘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970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ic_ir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275598"/>
            <a:ext cx="4206240" cy="238656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2960" y="3931920"/>
            <a:ext cx="329184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87368"/>
            <a:ext cx="292608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43A047"/>
                </a:solidFill>
                <a:latin typeface="Microsoft YaHei"/>
              </a:rPr>
              <a:t>有效因子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462272"/>
            <a:ext cx="2926080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16213E"/>
                </a:solidFill>
                <a:latin typeface="Microsoft YaHei"/>
              </a:rPr>
              <a:t>Reversal、Liquidity、MoneyFlow达到|IC|≥0.02；Value为边缘因子，按课程规则保留进入后续模型。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3931920"/>
            <a:ext cx="329184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4087368"/>
            <a:ext cx="292608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F29E38"/>
                </a:solidFill>
                <a:latin typeface="Microsoft YaHei"/>
              </a:rPr>
              <a:t>方向解释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4462272"/>
            <a:ext cx="2926080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16213E"/>
                </a:solidFill>
                <a:latin typeface="Microsoft YaHei"/>
              </a:rPr>
              <a:t>MoneyFlow的IC为负，说明在当前代理口径下，极端资金拥挤后的短期回撤更明显。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931920"/>
            <a:ext cx="31546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087368"/>
            <a:ext cx="278892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0B6E69"/>
                </a:solidFill>
                <a:latin typeface="Microsoft YaHei"/>
              </a:rPr>
              <a:t>稳定性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462272"/>
            <a:ext cx="2788920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16213E"/>
                </a:solidFill>
                <a:latin typeface="Microsoft YaHei"/>
              </a:rPr>
              <a:t>Liquidity IR最高，为0.1997；Reversal与MoneyFlow也超过|0.1|稳定阈值。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6213E"/>
                </a:solidFill>
                <a:latin typeface="Microsoft YaHei"/>
              </a:rPr>
              <a:t>IC时间序列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058400" cy="310896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icrosoft YaHei"/>
              </a:rPr>
              <a:t>观察因子在训练期不同市场阶段下的预测能力波动。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_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788" y="1051560"/>
            <a:ext cx="9168502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6213E"/>
                </a:solidFill>
                <a:latin typeface="Microsoft YaHei"/>
              </a:rPr>
              <a:t>共线性与单因子OLS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058400" cy="310896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icrosoft YaHei"/>
              </a:rPr>
              <a:t>VIF用于排查因子冗余，OLS用于线性有效性量化；不因OLS失效而剔除非线性候选因子。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234440"/>
          <a:ext cx="429768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005840"/>
                <a:gridCol w="1005840"/>
                <a:gridCol w="868680"/>
              </a:tblGrid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因子</a:t>
                      </a:r>
                    </a:p>
                  </a:txBody>
                  <a:tcPr>
                    <a:solidFill>
                      <a:srgbClr val="0B6E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VIF</a:t>
                      </a:r>
                    </a:p>
                  </a:txBody>
                  <a:tcPr>
                    <a:solidFill>
                      <a:srgbClr val="0B6E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R²</a:t>
                      </a:r>
                    </a:p>
                  </a:txBody>
                  <a:tcPr>
                    <a:solidFill>
                      <a:srgbClr val="0B6E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判定</a:t>
                      </a:r>
                    </a:p>
                  </a:txBody>
                  <a:tcPr>
                    <a:solidFill>
                      <a:srgbClr val="0B6E6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Reversal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1.1016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0.0922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正常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Liquidity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1.0061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0.0060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正常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MoneyFlow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1.1039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0.0941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正常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Value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1.0063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0.0063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正常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0" y="1234440"/>
          <a:ext cx="571500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737360"/>
              </a:tblGrid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FFFFFF"/>
                          </a:solidFill>
                          <a:latin typeface="Microsoft YaHei"/>
                        </a:rPr>
                        <a:t>因子</a:t>
                      </a:r>
                    </a:p>
                  </a:txBody>
                  <a:tcPr>
                    <a:solidFill>
                      <a:srgbClr val="0B6E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FFFFFF"/>
                          </a:solidFill>
                          <a:latin typeface="Microsoft YaHei"/>
                        </a:rPr>
                        <a:t>β均值</a:t>
                      </a:r>
                    </a:p>
                  </a:txBody>
                  <a:tcPr>
                    <a:solidFill>
                      <a:srgbClr val="0B6E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FFFFFF"/>
                          </a:solidFill>
                          <a:latin typeface="Microsoft YaHei"/>
                        </a:rPr>
                        <a:t>p值均值</a:t>
                      </a:r>
                    </a:p>
                  </a:txBody>
                  <a:tcPr>
                    <a:solidFill>
                      <a:srgbClr val="0B6E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FFFFFF"/>
                          </a:solidFill>
                          <a:latin typeface="Microsoft YaHei"/>
                        </a:rPr>
                        <a:t>判定</a:t>
                      </a:r>
                    </a:p>
                  </a:txBody>
                  <a:tcPr>
                    <a:solidFill>
                      <a:srgbClr val="0B6E6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6213E"/>
                          </a:solidFill>
                          <a:latin typeface="Microsoft YaHei"/>
                        </a:rPr>
                        <a:t>Reversal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6213E"/>
                          </a:solidFill>
                          <a:latin typeface="Microsoft YaHei"/>
                        </a:rPr>
                        <a:t>-0.000408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6213E"/>
                          </a:solidFill>
                          <a:latin typeface="Microsoft YaHei"/>
                        </a:rPr>
                        <a:t>0.2057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6213E"/>
                          </a:solidFill>
                          <a:latin typeface="Microsoft YaHei"/>
                        </a:rPr>
                        <a:t>待定(非线性)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6213E"/>
                          </a:solidFill>
                          <a:latin typeface="Microsoft YaHei"/>
                        </a:rPr>
                        <a:t>Liquidity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6213E"/>
                          </a:solidFill>
                          <a:latin typeface="Microsoft YaHei"/>
                        </a:rPr>
                        <a:t>0.000859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6213E"/>
                          </a:solidFill>
                          <a:latin typeface="Microsoft YaHei"/>
                        </a:rPr>
                        <a:t>0.3339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6213E"/>
                          </a:solidFill>
                          <a:latin typeface="Microsoft YaHei"/>
                        </a:rPr>
                        <a:t>待定(非线性)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6213E"/>
                          </a:solidFill>
                          <a:latin typeface="Microsoft YaHei"/>
                        </a:rPr>
                        <a:t>MoneyFlow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6213E"/>
                          </a:solidFill>
                          <a:latin typeface="Microsoft YaHei"/>
                        </a:rPr>
                        <a:t>0.000028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6213E"/>
                          </a:solidFill>
                          <a:latin typeface="Microsoft YaHei"/>
                        </a:rPr>
                        <a:t>0.2225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6213E"/>
                          </a:solidFill>
                          <a:latin typeface="Microsoft YaHei"/>
                        </a:rPr>
                        <a:t>待定(非线性)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6213E"/>
                          </a:solidFill>
                          <a:latin typeface="Microsoft YaHei"/>
                        </a:rPr>
                        <a:t>Value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6213E"/>
                          </a:solidFill>
                          <a:latin typeface="Microsoft YaHei"/>
                        </a:rPr>
                        <a:t>-0.000250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6213E"/>
                          </a:solidFill>
                          <a:latin typeface="Microsoft YaHei"/>
                        </a:rPr>
                        <a:t>0.1588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6213E"/>
                          </a:solidFill>
                          <a:latin typeface="Microsoft YaHei"/>
                        </a:rPr>
                        <a:t>待定(非线性)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2960" y="4069080"/>
            <a:ext cx="475488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24528"/>
            <a:ext cx="438912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43A047"/>
                </a:solidFill>
                <a:latin typeface="Microsoft YaHei"/>
              </a:rPr>
              <a:t>VIF结论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99432"/>
            <a:ext cx="4389120" cy="7315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16213E"/>
                </a:solidFill>
                <a:latin typeface="Microsoft YaHei"/>
              </a:rPr>
              <a:t>四个因子VIF均接近1，远低于VIF&gt;5的高共线阈值，可全部纳入LGBM。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069080"/>
            <a:ext cx="489204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224528"/>
            <a:ext cx="4526279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F29E38"/>
                </a:solidFill>
                <a:latin typeface="Microsoft YaHei"/>
              </a:rPr>
              <a:t>OLS结论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599432"/>
            <a:ext cx="4526279" cy="7315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16213E"/>
                </a:solidFill>
                <a:latin typeface="Microsoft YaHei"/>
              </a:rPr>
              <a:t>四个因子p值均高于0.05，线性维度待定；按作业规则全部进入LGBM做非线性二次筛选。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6213E"/>
                </a:solidFill>
                <a:latin typeface="Microsoft YaHei"/>
              </a:rPr>
              <a:t>LGBM非线性赋权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058400" cy="310896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icrosoft YaHei"/>
              </a:rPr>
              <a:t>训练样本只来自2020-2023；特征为4个标准化因子，标签为次日超额收益。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234440"/>
          <a:ext cx="420624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645920"/>
                <a:gridCol w="1737360"/>
              </a:tblGrid>
              <a:tr h="40386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折数</a:t>
                      </a:r>
                    </a:p>
                  </a:txBody>
                  <a:tcPr>
                    <a:solidFill>
                      <a:srgbClr val="0B6E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训练MSE</a:t>
                      </a:r>
                    </a:p>
                  </a:txBody>
                  <a:tcPr>
                    <a:solidFill>
                      <a:srgbClr val="0B6E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验证MSE</a:t>
                      </a:r>
                    </a:p>
                  </a:txBody>
                  <a:tcPr>
                    <a:solidFill>
                      <a:srgbClr val="0B6E69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0.000864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0.000822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0.000835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0.000781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0.000822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0.000698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0.000782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0.000576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0.000743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6213E"/>
                          </a:solidFill>
                          <a:latin typeface="Microsoft YaHei"/>
                        </a:rPr>
                        <a:t>0.000410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factor_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1249" y="868680"/>
            <a:ext cx="5913861" cy="35204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2960" y="4160520"/>
            <a:ext cx="40233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15968"/>
            <a:ext cx="365760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0B6E69"/>
                </a:solidFill>
                <a:latin typeface="Microsoft YaHei"/>
              </a:rPr>
              <a:t>交叉验证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690872"/>
            <a:ext cx="3657600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16213E"/>
                </a:solidFill>
                <a:latin typeface="Microsoft YaHei"/>
              </a:rPr>
              <a:t>5折扩展窗口时间序列CV，最佳为Fold 5，验证MSE=0.000410。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4572000"/>
            <a:ext cx="539496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4727448"/>
            <a:ext cx="502920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43A047"/>
                </a:solidFill>
                <a:latin typeface="Microsoft YaHei"/>
              </a:rPr>
              <a:t>重要性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5102352"/>
            <a:ext cx="5029200" cy="1371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16213E"/>
                </a:solidFill>
                <a:latin typeface="Microsoft YaHei"/>
              </a:rPr>
              <a:t>Liquidity权重最高，其次为Value、Reversal、MoneyFlow；模型自动学习非线性组合。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6213E"/>
                </a:solidFill>
                <a:latin typeface="Microsoft YaHei"/>
              </a:rPr>
              <a:t>日频截面选股与交易规则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058400" cy="310896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icrosoft YaHei"/>
              </a:rPr>
              <a:t>综合得分为LGBM预测的个股次日超额收益，得分越高越优先买入。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29184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89888"/>
            <a:ext cx="292608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0B6E69"/>
                </a:solidFill>
                <a:latin typeface="Microsoft YaHei"/>
              </a:rPr>
              <a:t>打分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64792"/>
            <a:ext cx="2926080" cy="11430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16213E"/>
                </a:solidFill>
                <a:latin typeface="Microsoft YaHei"/>
              </a:rPr>
              <a:t>每日收盘后对沪深300股票池逐只预测次日超额收益，并按预测值从高到低排序。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34440"/>
            <a:ext cx="329184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389888"/>
            <a:ext cx="292608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0B6E69"/>
                </a:solidFill>
                <a:latin typeface="Microsoft YaHei"/>
              </a:rPr>
              <a:t>选股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764792"/>
            <a:ext cx="2926080" cy="11430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16213E"/>
                </a:solidFill>
                <a:latin typeface="Microsoft YaHei"/>
              </a:rPr>
              <a:t>每日选择Top5股票，等权持仓，每只股票目标权重20%。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234440"/>
            <a:ext cx="329184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1389888"/>
            <a:ext cx="292608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0B6E69"/>
                </a:solidFill>
                <a:latin typeface="Microsoft YaHei"/>
              </a:rPr>
              <a:t>成本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9" y="1764792"/>
            <a:ext cx="2926080" cy="11430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16213E"/>
                </a:solidFill>
                <a:latin typeface="Microsoft YaHei"/>
              </a:rPr>
              <a:t>初始建仓扣单边0.1%；后续调仓按卖出+买入实际换手部分扣成本。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94760"/>
            <a:ext cx="516636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50208"/>
            <a:ext cx="480060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0B6E69"/>
                </a:solidFill>
                <a:latin typeface="Microsoft YaHei"/>
              </a:rPr>
              <a:t>时间对齐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25112"/>
            <a:ext cx="4800600" cy="6400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16213E"/>
                </a:solidFill>
                <a:latin typeface="Microsoft YaHei"/>
              </a:rPr>
              <a:t>T日收盘产生信号并调仓；T+1日用持仓股票日收益结算。最后一个回测日只结算持仓，不再新开无效仓位。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794760"/>
            <a:ext cx="493776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950208"/>
            <a:ext cx="457200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F29E38"/>
                </a:solidFill>
                <a:latin typeface="Microsoft YaHei"/>
              </a:rPr>
              <a:t>交易日志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325112"/>
            <a:ext cx="4572000" cy="6400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16213E"/>
                </a:solidFill>
                <a:latin typeface="Microsoft YaHei"/>
              </a:rPr>
              <a:t>输出每日调仓记录，共484条；包含持仓、买入、卖出、换手率和成本。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6213E"/>
                </a:solidFill>
                <a:latin typeface="Microsoft YaHei"/>
              </a:rPr>
              <a:t>样本外回测核心指标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058400" cy="310896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icrosoft YaHei"/>
              </a:rPr>
              <a:t>回测区间：2024-01-02 至 2025-12-31，初始资金100万元，单边交易成本0.1%。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554480" cy="47548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ctr"/>
            <a:r>
              <a:rPr sz="3000" b="1">
                <a:solidFill>
                  <a:srgbClr val="0B6E69"/>
                </a:solidFill>
                <a:latin typeface="Microsoft YaHei"/>
              </a:rPr>
              <a:t>15.37%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55448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50" b="0">
                <a:solidFill>
                  <a:srgbClr val="4A5568"/>
                </a:solidFill>
                <a:latin typeface="Microsoft YaHei"/>
              </a:rPr>
              <a:t>累计收益率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234440"/>
            <a:ext cx="1554480" cy="47548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ctr"/>
            <a:r>
              <a:rPr sz="3000" b="1">
                <a:solidFill>
                  <a:srgbClr val="0B6E69"/>
                </a:solidFill>
                <a:latin typeface="Microsoft YaHei"/>
              </a:rPr>
              <a:t>7.71%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737360"/>
            <a:ext cx="155448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50" b="0">
                <a:solidFill>
                  <a:srgbClr val="4A5568"/>
                </a:solidFill>
                <a:latin typeface="Microsoft YaHei"/>
              </a:rPr>
              <a:t>年化收益率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234440"/>
            <a:ext cx="1554480" cy="47548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ctr"/>
            <a:r>
              <a:rPr sz="2800" b="1">
                <a:solidFill>
                  <a:srgbClr val="C2413B"/>
                </a:solidFill>
                <a:latin typeface="Microsoft YaHei"/>
              </a:rPr>
              <a:t>-40.59%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37360"/>
            <a:ext cx="155448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50" b="0">
                <a:solidFill>
                  <a:srgbClr val="4A5568"/>
                </a:solidFill>
                <a:latin typeface="Microsoft YaHei"/>
              </a:rPr>
              <a:t>最大回撤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234440"/>
            <a:ext cx="1554480" cy="47548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ctr"/>
            <a:r>
              <a:rPr sz="3000" b="1">
                <a:solidFill>
                  <a:srgbClr val="F29E38"/>
                </a:solidFill>
                <a:latin typeface="Microsoft YaHei"/>
              </a:rPr>
              <a:t>44.95%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737360"/>
            <a:ext cx="155448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50" b="0">
                <a:solidFill>
                  <a:srgbClr val="4A5568"/>
                </a:solidFill>
                <a:latin typeface="Microsoft YaHei"/>
              </a:rPr>
              <a:t>日胜率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1234440"/>
            <a:ext cx="1554480" cy="47548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ctr"/>
            <a:r>
              <a:rPr sz="2800" b="1">
                <a:solidFill>
                  <a:srgbClr val="43A047"/>
                </a:solidFill>
                <a:latin typeface="Microsoft YaHei"/>
              </a:rPr>
              <a:t>-21.35%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1737360"/>
            <a:ext cx="155448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50" b="0">
                <a:solidFill>
                  <a:srgbClr val="4A5568"/>
                </a:solidFill>
                <a:latin typeface="Microsoft YaHei"/>
              </a:rPr>
              <a:t>累计超额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1234440"/>
            <a:ext cx="1554480" cy="475488"/>
          </a:xfrm>
          <a:prstGeom prst="rect">
            <a:avLst/>
          </a:prstGeom>
          <a:noFill/>
        </p:spPr>
        <p:txBody>
          <a:bodyPr wrap="none" lIns="36576" rIns="36576" anchor="t">
            <a:spAutoFit/>
          </a:bodyPr>
          <a:lstStyle/>
          <a:p>
            <a:pPr algn="ctr"/>
            <a:r>
              <a:rPr sz="3000" b="1">
                <a:solidFill>
                  <a:srgbClr val="16213E"/>
                </a:solidFill>
                <a:latin typeface="Microsoft YaHei"/>
              </a:rPr>
              <a:t>0.3215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1737360"/>
            <a:ext cx="155448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050" b="0">
                <a:solidFill>
                  <a:srgbClr val="4A5568"/>
                </a:solidFill>
                <a:latin typeface="Microsoft YaHei"/>
              </a:rPr>
              <a:t>夏普比率</a:t>
            </a:r>
          </a:p>
        </p:txBody>
      </p:sp>
      <p:pic>
        <p:nvPicPr>
          <p:cNvPr id="18" name="Picture 17" descr="metric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453" y="2788920"/>
            <a:ext cx="4838613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6213E"/>
                </a:solidFill>
                <a:latin typeface="Microsoft YaHei"/>
              </a:rPr>
              <a:t>策略净值 vs 沪深300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058400" cy="310896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icrosoft YaHei"/>
              </a:rPr>
              <a:t>策略取得正收益，但样本外未跑赢沪深300，风险暴露仍需进一步约束。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av_vs_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827" y="960120"/>
            <a:ext cx="9427865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6213E"/>
                </a:solidFill>
                <a:latin typeface="Microsoft YaHei"/>
              </a:rPr>
              <a:t>回撤分析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058400" cy="310896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icrosoft YaHei"/>
              </a:rPr>
              <a:t>最大回撤为-40.59%，主要来自高波动阶段的日频满仓换仓风险。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raw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136" y="1005840"/>
            <a:ext cx="8775807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6213E"/>
                </a:solidFill>
                <a:latin typeface="Microsoft YaHei"/>
              </a:rPr>
              <a:t>研究结论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058400" cy="310896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icrosoft YaHei"/>
              </a:rPr>
              <a:t>四因子中频短线流程取得正收益，但相对基准承压，风险暴露仍需进一步约束。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38328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89888"/>
            <a:ext cx="301752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43A047"/>
                </a:solidFill>
                <a:latin typeface="Microsoft YaHei"/>
              </a:rPr>
              <a:t>因子层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64792"/>
            <a:ext cx="3017520" cy="11430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16213E"/>
                </a:solidFill>
                <a:latin typeface="Microsoft YaHei"/>
              </a:rPr>
              <a:t>Reversal、Liquidity、MoneyFlow在训练集IC层面有效；Value为边缘因子但对LGBM非线性组合有贡献。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234440"/>
            <a:ext cx="338328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389888"/>
            <a:ext cx="301752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0B6E69"/>
                </a:solidFill>
                <a:latin typeface="Microsoft YaHei"/>
              </a:rPr>
              <a:t>模型层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764792"/>
            <a:ext cx="3017520" cy="11430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16213E"/>
                </a:solidFill>
                <a:latin typeface="Microsoft YaHei"/>
              </a:rPr>
              <a:t>LGBM可处理OLS难以刻画的非线性关系；特征重要性显示流动性和估值是主要分裂收益来源。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34440"/>
            <a:ext cx="320040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389888"/>
            <a:ext cx="283464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F29E38"/>
                </a:solidFill>
                <a:latin typeface="Microsoft YaHei"/>
              </a:rPr>
              <a:t>交易层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764792"/>
            <a:ext cx="2834640" cy="11430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16213E"/>
                </a:solidFill>
                <a:latin typeface="Microsoft YaHei"/>
              </a:rPr>
              <a:t>每日Top5换仓带来较高信号响应速度，也带来较高交易成本和回撤风险。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97680"/>
            <a:ext cx="10332720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1">
                <a:solidFill>
                  <a:srgbClr val="16213E"/>
                </a:solidFill>
                <a:latin typeface="Microsoft YaHei"/>
              </a:rPr>
              <a:t>下一步优化方向：加入仓位上限、行业中性、止损/止盈规则，并对MoneyFlow代理口径做稳健性检验。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6213E"/>
                </a:solidFill>
                <a:latin typeface="Microsoft YaHei"/>
              </a:rPr>
              <a:t>AI辅助编程审查反思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058400" cy="310896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icrosoft YaHei"/>
              </a:rPr>
              <a:t>AI能快速生成流程，但量化作业必须进行数据口径、时序逻辑和结果真实性审查。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12064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44168"/>
            <a:ext cx="4754879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0B6E69"/>
                </a:solidFill>
                <a:latin typeface="Microsoft YaHei"/>
              </a:rPr>
              <a:t>AI初稿风险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19072"/>
            <a:ext cx="4754879" cy="12344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16213E"/>
                </a:solidFill>
                <a:latin typeface="Microsoft YaHei"/>
              </a:rPr>
              <a:t>AI倾向为了提升结果加入额外因子；也容易将全样本统计结果写入PPT，造成样本外信息污染。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188720"/>
            <a:ext cx="502920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44168"/>
            <a:ext cx="466344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0B6E69"/>
                </a:solidFill>
                <a:latin typeface="Microsoft YaHei"/>
              </a:rPr>
              <a:t>人工修复价值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719072"/>
            <a:ext cx="4663440" cy="12344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16213E"/>
                </a:solidFill>
                <a:latin typeface="Microsoft YaHei"/>
              </a:rPr>
              <a:t>人工审查将因子口径、训练/回测隔离、交易成本、最后交易日处理逐项校正，使结果可解释、可复现。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86200"/>
            <a:ext cx="512064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4754879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F29E38"/>
                </a:solidFill>
                <a:latin typeface="Microsoft YaHei"/>
              </a:rPr>
              <a:t>保留限制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16552"/>
            <a:ext cx="4754879" cy="594359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16213E"/>
                </a:solidFill>
                <a:latin typeface="Microsoft YaHei"/>
              </a:rPr>
              <a:t>MoneyFlow受限于本地数据字段，只能使用个股级代理；这会影响经济解释强度。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886200"/>
            <a:ext cx="502920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041648"/>
            <a:ext cx="466344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1">
                <a:solidFill>
                  <a:srgbClr val="43A047"/>
                </a:solidFill>
                <a:latin typeface="Microsoft YaHei"/>
              </a:rPr>
              <a:t>提交材料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416552"/>
            <a:ext cx="4663440" cy="594359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>
                <a:solidFill>
                  <a:srgbClr val="16213E"/>
                </a:solidFill>
                <a:latin typeface="Microsoft YaHei"/>
              </a:rPr>
              <a:t>PPT、AI代码审查记录、AI交互记录、回测图表/指标表格均已按修复后结果更新。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500" b="1">
                <a:solidFill>
                  <a:srgbClr val="16213E"/>
                </a:solidFill>
                <a:latin typeface="Microsoft YaHei"/>
              </a:rPr>
              <a:t>提交文件清单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058400" cy="310896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50" b="0">
                <a:solidFill>
                  <a:srgbClr val="4A5568"/>
                </a:solidFill>
                <a:latin typeface="Microsoft YaHei"/>
              </a:rPr>
              <a:t>命名遵循：学号 + 姓名 + 作业4B。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325880"/>
          <a:ext cx="1078992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5715000"/>
                <a:gridCol w="3931920"/>
              </a:tblGrid>
              <a:tr h="476794"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FFFFFF"/>
                          </a:solidFill>
                          <a:latin typeface="Microsoft YaHei"/>
                        </a:rPr>
                        <a:t>类别</a:t>
                      </a:r>
                    </a:p>
                  </a:txBody>
                  <a:tcPr>
                    <a:solidFill>
                      <a:srgbClr val="0B6E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FFFFFF"/>
                          </a:solidFill>
                          <a:latin typeface="Microsoft YaHei"/>
                        </a:rPr>
                        <a:t>文件/目录</a:t>
                      </a:r>
                    </a:p>
                  </a:txBody>
                  <a:tcPr>
                    <a:solidFill>
                      <a:srgbClr val="0B6E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 b="1">
                          <a:solidFill>
                            <a:srgbClr val="FFFFFF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>
                    <a:solidFill>
                      <a:srgbClr val="0B6E69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16213E"/>
                          </a:solidFill>
                          <a:latin typeface="Microsoft YaHei"/>
                        </a:rPr>
                        <a:t>PPT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16213E"/>
                          </a:solidFill>
                          <a:latin typeface="Microsoft YaHei"/>
                        </a:rPr>
                        <a:t>202331060205_丁致宇_作业4B.pptx / .pdf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16213E"/>
                          </a:solidFill>
                          <a:latin typeface="Microsoft YaHei"/>
                        </a:rPr>
                        <a:t>演示文稿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16213E"/>
                          </a:solidFill>
                          <a:latin typeface="Microsoft YaHei"/>
                        </a:rPr>
                        <a:t>代码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16213E"/>
                          </a:solidFill>
                          <a:latin typeface="Microsoft YaHei"/>
                        </a:rPr>
                        <a:t>homework4b/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16213E"/>
                          </a:solidFill>
                          <a:latin typeface="Microsoft YaHei"/>
                        </a:rPr>
                        <a:t>全流程源码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16213E"/>
                          </a:solidFill>
                          <a:latin typeface="Microsoft YaHei"/>
                        </a:rPr>
                        <a:t>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16213E"/>
                          </a:solidFill>
                          <a:latin typeface="Microsoft YaHei"/>
                        </a:rPr>
                        <a:t>data/homework4b/train_data.csv、test_data.csv、full_data.csv、数据说明.md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16213E"/>
                          </a:solidFill>
                          <a:latin typeface="Microsoft YaHei"/>
                        </a:rPr>
                        <a:t>清洗后训练/回测/全量数据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16213E"/>
                          </a:solidFill>
                          <a:latin typeface="Microsoft YaHei"/>
                        </a:rPr>
                        <a:t>图表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16213E"/>
                          </a:solidFill>
                          <a:latin typeface="Microsoft YaHei"/>
                        </a:rPr>
                        <a:t>outputs/homework4b/*.png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16213E"/>
                          </a:solidFill>
                          <a:latin typeface="Microsoft YaHei"/>
                        </a:rPr>
                        <a:t>净值、回撤、IC、重要性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16213E"/>
                          </a:solidFill>
                          <a:latin typeface="Microsoft YaHei"/>
                        </a:rPr>
                        <a:t>指标表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16213E"/>
                          </a:solidFill>
                          <a:latin typeface="Microsoft YaHei"/>
                        </a:rPr>
                        <a:t>summary.json、IC/VIF/OLS/feature_importance/backtest_result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16213E"/>
                          </a:solidFill>
                          <a:latin typeface="Microsoft YaHei"/>
                        </a:rPr>
                        <a:t>可复核数据结果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6796"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16213E"/>
                          </a:solidFill>
                          <a:latin typeface="Microsoft YaHei"/>
                        </a:rPr>
                        <a:t>AI记录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16213E"/>
                          </a:solidFill>
                          <a:latin typeface="Microsoft YaHei"/>
                        </a:rPr>
                        <a:t>AI代码审核记录.md、AI交互记录.md、AI交互记录.docx、AI代码审查与修复表.docx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9">
                          <a:solidFill>
                            <a:srgbClr val="16213E"/>
                          </a:solidFill>
                          <a:latin typeface="Microsoft YaHei"/>
                        </a:rPr>
                        <a:t>AI辅助与人工修复过程</a:t>
                      </a:r>
                    </a:p>
                  </a:txBody>
                  <a:tcPr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4983480"/>
            <a:ext cx="10241280" cy="5943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>
                <a:solidFill>
                  <a:srgbClr val="16213E"/>
                </a:solidFill>
                <a:latin typeface="Microsoft YaHei"/>
              </a:rPr>
              <a:t>核心结论：严格四因子口径和按日截面缩尾后，样本外累计收益15.37%，相对沪深300累计超额-21.35%；结果低于AI初稿，但更符合题目要求和回测真实性。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