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作业5：Alpha的持续性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6070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D1D5DB"/>
                </a:solidFill>
                <a:latin typeface="Microsoft YaHei"/>
              </a:rPr>
              <a:t>AI辅助的上证50指数股CAPM实证分析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877824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历史高Alpha股票，未来还能保持高Alpha吗？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349240"/>
            <a:ext cx="713232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Microsoft YaHei"/>
              </a:rPr>
              <a:t>学生：丁致宇    学号：202331060205</a:t>
            </a:r>
            <a:br/>
            <a:r>
              <a:rPr sz="1300" b="0">
                <a:solidFill>
                  <a:srgbClr val="D1D5DB"/>
                </a:solidFill>
                <a:latin typeface="Microsoft YaHei"/>
              </a:rPr>
              <a:t>课程：金融与经济数据挖掘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434840"/>
            <a:ext cx="164592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800" b="1">
                <a:solidFill>
                  <a:srgbClr val="D97706"/>
                </a:solidFill>
                <a:latin typeface="Microsoft YaHei"/>
              </a:rPr>
              <a:t>15.00%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946904"/>
            <a:ext cx="164592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Microsoft YaHei"/>
              </a:rPr>
              <a:t>主口径Top20重合度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04120" y="4434840"/>
            <a:ext cx="141732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800" b="1">
                <a:solidFill>
                  <a:srgbClr val="14B8A6"/>
                </a:solidFill>
                <a:latin typeface="Microsoft YaHei"/>
              </a:rPr>
              <a:t>-0.643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04120" y="4946904"/>
            <a:ext cx="141732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Microsoft YaHei"/>
              </a:rPr>
              <a:t>排名相关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Microsoft YaHei"/>
              </a:rPr>
              <a:t>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6070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按CAPM分别估计训练期与未来期Alpha，再检验Top20的持续性。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20040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80744"/>
            <a:ext cx="2871216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Microsoft YaHei"/>
              </a:rPr>
              <a:t>训练期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2871216" cy="1216151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Microsoft YaHei"/>
              </a:rPr>
              <a:t>2019-01-01 至 2021-12-31</a:t>
            </a:r>
            <a:br/>
            <a:r>
              <a:rPr sz="1120" b="0">
                <a:solidFill>
                  <a:srgbClr val="1F2937"/>
                </a:solidFill>
                <a:latin typeface="Microsoft YaHei"/>
              </a:rPr>
              <a:t>逐股回归 CAPM</a:t>
            </a:r>
            <a:br/>
            <a:r>
              <a:rPr sz="1120" b="0">
                <a:solidFill>
                  <a:srgbClr val="1F2937"/>
                </a:solidFill>
                <a:latin typeface="Microsoft YaHei"/>
              </a:rPr>
              <a:t>按年化Alpha降序排序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34440"/>
            <a:ext cx="320040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380744"/>
            <a:ext cx="2871216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Microsoft YaHei"/>
              </a:rPr>
              <a:t>主检验期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764792"/>
            <a:ext cx="2871216" cy="1216151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Microsoft YaHei"/>
              </a:rPr>
              <a:t>2022-01-01 至 2024-12-31</a:t>
            </a:r>
            <a:br/>
            <a:r>
              <a:rPr sz="1120" b="0">
                <a:solidFill>
                  <a:srgbClr val="1F2937"/>
                </a:solidFill>
                <a:latin typeface="Microsoft YaHei"/>
              </a:rPr>
              <a:t>对应AI指令第4条</a:t>
            </a:r>
            <a:br/>
            <a:r>
              <a:rPr sz="1120" b="0">
                <a:solidFill>
                  <a:srgbClr val="1F2937"/>
                </a:solidFill>
                <a:latin typeface="Microsoft YaHei"/>
              </a:rPr>
              <a:t>计算未来Alpha与排名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234440"/>
            <a:ext cx="306324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380744"/>
            <a:ext cx="2734056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Microsoft YaHei"/>
              </a:rPr>
              <a:t>稳健性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1764792"/>
            <a:ext cx="2734056" cy="1216151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Microsoft YaHei"/>
              </a:rPr>
              <a:t>2022-01-01 至 2023-12-31</a:t>
            </a:r>
            <a:br/>
            <a:r>
              <a:rPr sz="1120" b="0">
                <a:solidFill>
                  <a:srgbClr val="1F2937"/>
                </a:solidFill>
                <a:latin typeface="Microsoft YaHei"/>
              </a:rPr>
              <a:t>对应实验数据说明</a:t>
            </a:r>
            <a:br/>
            <a:r>
              <a:rPr sz="1120" b="0">
                <a:solidFill>
                  <a:srgbClr val="1F2937"/>
                </a:solidFill>
                <a:latin typeface="Microsoft YaHei"/>
              </a:rPr>
              <a:t>用于消除口径争议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86200"/>
            <a:ext cx="49834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032504"/>
            <a:ext cx="4654296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Microsoft YaHei"/>
              </a:rPr>
              <a:t>市场基准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416552"/>
            <a:ext cx="4654296" cy="5760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Microsoft YaHei"/>
              </a:rPr>
              <a:t>baostock沪深300（本地缓存），无风险利率为年化1.5%。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886200"/>
            <a:ext cx="48920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4032504"/>
            <a:ext cx="4562855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Microsoft YaHei"/>
              </a:rPr>
              <a:t>持续性指标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416552"/>
            <a:ext cx="4562855" cy="5760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Microsoft YaHei"/>
              </a:rPr>
              <a:t>Top20重合度、Alpha均值变化、Spearman排名相关、按历史Alpha分组后的未来Alpha。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Microsoft YaHei"/>
              </a:rPr>
              <a:t>主结果概览：2022-2024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6070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历史高Alpha组合在未来期整体出现明显衰减。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55448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800" b="1">
                <a:solidFill>
                  <a:srgbClr val="0F766E"/>
                </a:solidFill>
                <a:latin typeface="Microsoft YaHei"/>
              </a:rPr>
              <a:t>15.00%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37943"/>
            <a:ext cx="15544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Microsoft YaHei"/>
              </a:rPr>
              <a:t>重合度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325880"/>
            <a:ext cx="155448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800" b="1">
                <a:solidFill>
                  <a:srgbClr val="0F766E"/>
                </a:solidFill>
                <a:latin typeface="Microsoft YaHei"/>
              </a:rPr>
              <a:t>3/20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837943"/>
            <a:ext cx="15544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Microsoft YaHei"/>
              </a:rPr>
              <a:t>重合股票数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325880"/>
            <a:ext cx="173736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800" b="1">
                <a:solidFill>
                  <a:srgbClr val="D97706"/>
                </a:solidFill>
                <a:latin typeface="Microsoft YaHei"/>
              </a:rPr>
              <a:t>28.04%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837943"/>
            <a:ext cx="173736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Microsoft YaHei"/>
              </a:rPr>
              <a:t>训练期Top20均值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325880"/>
            <a:ext cx="173736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800" b="1">
                <a:solidFill>
                  <a:srgbClr val="D97706"/>
                </a:solidFill>
                <a:latin typeface="Microsoft YaHei"/>
              </a:rPr>
              <a:t>-2.72%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837943"/>
            <a:ext cx="173736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Microsoft YaHei"/>
              </a:rPr>
              <a:t>后期同组均值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1325880"/>
            <a:ext cx="164592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800" b="1">
                <a:solidFill>
                  <a:srgbClr val="DC2626"/>
                </a:solidFill>
                <a:latin typeface="Microsoft YaHei"/>
              </a:rPr>
              <a:t>-30.76%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1837943"/>
            <a:ext cx="164592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Microsoft YaHei"/>
              </a:rPr>
              <a:t>Alpha变化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246120"/>
            <a:ext cx="493776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392424"/>
            <a:ext cx="4608576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Microsoft YaHei"/>
              </a:rPr>
              <a:t>核心判断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776472"/>
            <a:ext cx="4608576" cy="7132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Microsoft YaHei"/>
              </a:rPr>
              <a:t>主口径下，前期Top20平均Alpha从 28.04% 下降到 -2.72%，Alpha持续性较弱。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470916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1" y="3392424"/>
            <a:ext cx="4379976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Microsoft YaHei"/>
              </a:rPr>
              <a:t>排名关系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1" y="3776472"/>
            <a:ext cx="4379976" cy="7132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Microsoft YaHei"/>
              </a:rPr>
              <a:t>全样本前后Alpha Spearman相关为 -0.6428，历史排序对未来排序解释力有限。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Microsoft YaHei"/>
              </a:rPr>
              <a:t>Alpha散点：训练期 vs 未来期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6070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橙色点为训练期Top20，虚线为Alpha不变的45度线。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lpha_scatter_2022_2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347" y="1005840"/>
            <a:ext cx="750482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Microsoft YaHei"/>
              </a:rPr>
              <a:t>训练期Top20前后Alpha对比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6070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大部分历史高Alpha股票在未来期Alpha回落。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op20_alpha_compare_2022_2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241" y="960120"/>
            <a:ext cx="6579037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Microsoft YaHei"/>
              </a:rPr>
              <a:t>Top20重合度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6070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重合度越高，说明历史高Alpha组合越能延续到未来。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verlap_2022_2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633" y="914400"/>
            <a:ext cx="4635533" cy="5166360"/>
          </a:xfrm>
          <a:prstGeom prst="rect">
            <a:avLst/>
          </a:prstGeom>
        </p:spPr>
      </p:pic>
      <p:pic>
        <p:nvPicPr>
          <p:cNvPr id="7" name="Picture 6" descr="group_persistence_2022_2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711857"/>
            <a:ext cx="5715000" cy="35714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Microsoft YaHei"/>
              </a:rPr>
              <a:t>稳健性：2022-2023口径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6070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题目数据说明中的样本外区间给出类似结论。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201168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800" b="1">
                <a:solidFill>
                  <a:srgbClr val="0F766E"/>
                </a:solidFill>
                <a:latin typeface="Microsoft YaHei"/>
              </a:rPr>
              <a:t>15.00%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9384"/>
            <a:ext cx="20116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Microsoft YaHei"/>
              </a:rPr>
              <a:t>稳健口径重合度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417320"/>
            <a:ext cx="201168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800" b="1">
                <a:solidFill>
                  <a:srgbClr val="D97706"/>
                </a:solidFill>
                <a:latin typeface="Microsoft YaHei"/>
              </a:rPr>
              <a:t>-2.78%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929384"/>
            <a:ext cx="20116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Microsoft YaHei"/>
              </a:rPr>
              <a:t>同组后期Alpha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417320"/>
            <a:ext cx="201168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800" b="1">
                <a:solidFill>
                  <a:srgbClr val="DC2626"/>
                </a:solidFill>
                <a:latin typeface="Microsoft YaHei"/>
              </a:rPr>
              <a:t>-30.82%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929384"/>
            <a:ext cx="20116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Microsoft YaHei"/>
              </a:rPr>
              <a:t>Alpha变化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1417320"/>
            <a:ext cx="164592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800" b="1">
                <a:solidFill>
                  <a:srgbClr val="14B8A6"/>
                </a:solidFill>
                <a:latin typeface="Microsoft YaHei"/>
              </a:rPr>
              <a:t>-0.589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929384"/>
            <a:ext cx="164592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Microsoft YaHei"/>
              </a:rPr>
              <a:t>Spearman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474720"/>
            <a:ext cx="493776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3621024"/>
            <a:ext cx="4608576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Microsoft YaHei"/>
              </a:rPr>
              <a:t>结论一致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4005072"/>
            <a:ext cx="4608576" cy="7132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Microsoft YaHei"/>
              </a:rPr>
              <a:t>无论采用2022-2024还是2022-2023，历史Top20组合的未来Alpha均明显低于训练期。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474720"/>
            <a:ext cx="48006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3621024"/>
            <a:ext cx="4471416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Microsoft YaHei"/>
              </a:rPr>
              <a:t>评分口径兼容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005072"/>
            <a:ext cx="4471416" cy="7132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Microsoft YaHei"/>
              </a:rPr>
              <a:t>报告和结果表同时保留两个区间，课堂展示时可按老师解释选择主结果。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Microsoft YaHei"/>
              </a:rPr>
              <a:t>训练期Top20明细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6070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按2019-2021年化Alpha从高到低排序。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188720"/>
          <a:ext cx="107899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  <a:gridCol w="1798320"/>
                <a:gridCol w="1798320"/>
                <a:gridCol w="1798320"/>
              </a:tblGrid>
              <a:tr h="357447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代码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训练排名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后期排名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训练Alpha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后期Alpha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变化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sh.601633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65.69%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-4.41%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-70.09%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sh.600745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48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57.07%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-21.33%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-78.39%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sh.600111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53.18%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-11.80%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-64.99%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sh.601012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47.17%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-41.01%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-88.18%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sh.601919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45.78%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4.72%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-41.06%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sh.600703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49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31.17%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-24.58%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-55.75%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sh.600089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30.65%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-5.24%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-35.88%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sh.601899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29.87%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26.91%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-2.96%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sh.600309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28.66%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-2.38%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-31.03%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745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sh.600893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39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27.28%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-4.28%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F2937"/>
                          </a:solidFill>
                          <a:latin typeface="Microsoft YaHei"/>
                        </a:rPr>
                        <a:t>-31.55%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532120"/>
            <a:ext cx="102412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注：本页展示前10只，完整Top20见 outputs/homework5/top20_train_alpha_2022_2024.csv。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Microsoft YaHei"/>
              </a:rPr>
              <a:t>金融解释与应对方案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6070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Alpha衰减不是代码错误，而是市场竞争和时变结构下的常见现象。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329184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89304"/>
            <a:ext cx="2962656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Microsoft YaHei"/>
              </a:rPr>
              <a:t>原因1：均值回归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673352"/>
            <a:ext cx="2962656" cy="12618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Microsoft YaHei"/>
              </a:rPr>
              <a:t>短期超额收益可能来自误定价修复，修复后高Alpha自然下降。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143000"/>
            <a:ext cx="329184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289304"/>
            <a:ext cx="2962656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Microsoft YaHei"/>
              </a:rPr>
              <a:t>原因2：风格轮动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673352"/>
            <a:ext cx="2962656" cy="12618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Microsoft YaHei"/>
              </a:rPr>
              <a:t>不同时期市场偏好的行业、估值和风险暴露不同，历史强势风格可能切换。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143000"/>
            <a:ext cx="306324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289304"/>
            <a:ext cx="2734056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Microsoft YaHei"/>
              </a:rPr>
              <a:t>原因3：交易拥挤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1673352"/>
            <a:ext cx="2734056" cy="12618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Microsoft YaHei"/>
              </a:rPr>
              <a:t>高Alpha信号被更多资金使用后，收益被提前兑现，未来超额收益下降。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77639"/>
            <a:ext cx="498348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23944"/>
            <a:ext cx="4654296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Microsoft YaHei"/>
              </a:rPr>
              <a:t>如何避免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507992"/>
            <a:ext cx="4654296" cy="6217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Microsoft YaHei"/>
              </a:rPr>
              <a:t>滚动窗口更新Alpha；做行业/风格中性；加入估值、质量和风险控制；必须保留样本外检验。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977639"/>
            <a:ext cx="484632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1" y="4123944"/>
            <a:ext cx="4517136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Microsoft YaHei"/>
              </a:rPr>
              <a:t>展示结论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4507992"/>
            <a:ext cx="4517136" cy="6217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Microsoft YaHei"/>
              </a:rPr>
              <a:t>历史高Alpha可作为候选信号，但不能单独作为未来选股依据，需要与多因子和风控体系结合。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Microsoft YaHei"/>
              </a:rPr>
              <a:t>AI辅助代码反思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6070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AI提升了生成速度，但口径审查和金融解释仍必须人工完成。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12064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380744"/>
            <a:ext cx="4791455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Microsoft YaHei"/>
              </a:rPr>
              <a:t>AI生成有用之处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764792"/>
            <a:ext cx="4791455" cy="10332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Microsoft YaHei"/>
              </a:rPr>
              <a:t>快速搭建数据读取、CAPM回归、排序分组、图表输出和报告框架。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34440"/>
            <a:ext cx="50292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380744"/>
            <a:ext cx="4700016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Microsoft YaHei"/>
              </a:rPr>
              <a:t>人工关键修改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764792"/>
            <a:ext cx="4700016" cy="10332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Microsoft YaHei"/>
              </a:rPr>
              <a:t>补齐市场基准、处理题目区间矛盾、显式加入无风险利率、输出稳健性结果。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51206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895344"/>
            <a:ext cx="4791455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Microsoft YaHei"/>
              </a:rPr>
              <a:t>结果解读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279392"/>
            <a:ext cx="4791455" cy="66751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Microsoft YaHei"/>
              </a:rPr>
              <a:t>不能只看训练期Alpha；真正重要的是未来期表现、重合度和稳定性。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749039"/>
            <a:ext cx="50292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895344"/>
            <a:ext cx="4700016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Microsoft YaHei"/>
              </a:rPr>
              <a:t>提交材料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279392"/>
            <a:ext cx="4700016" cy="66751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20" b="0">
                <a:solidFill>
                  <a:srgbClr val="1F2937"/>
                </a:solidFill>
                <a:latin typeface="Microsoft YaHei"/>
              </a:rPr>
              <a:t>源码、结果表、图表、Markdown报告、PPT均在仓库内可复现生成。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