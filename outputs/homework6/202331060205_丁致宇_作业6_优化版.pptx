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749808"/>
            <a:ext cx="73152" cy="914400"/>
          </a:xfrm>
          <a:prstGeom prst="rect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作业6B：基于FCFF的价值投资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225296"/>
            <a:ext cx="6217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3CA"/>
                </a:solidFill>
                <a:latin typeface="Microsoft YaHei"/>
              </a:rPr>
              <a:t>传统规则选股 + LGBM 多因子价值模型双实证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65960"/>
            <a:ext cx="5943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把巴菲特·芒格“三好价值投资”拆成可检验的财务因子，并用样本外回测审查结果。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528523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FD8D0"/>
                </a:solidFill>
                <a:latin typeface="Microsoft YaHei"/>
              </a:rPr>
              <a:t>学生：丁致宇    学号：202331060205</a:t>
            </a:r>
          </a:p>
          <a:p>
            <a:pPr algn="l"/>
            <a:r>
              <a:rPr sz="1000" b="0">
                <a:solidFill>
                  <a:srgbClr val="CFD8D0"/>
                </a:solidFill>
                <a:latin typeface="Microsoft YaHei"/>
              </a:rPr>
              <a:t>课程：金融与经济数据挖掘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868680"/>
            <a:ext cx="3063240" cy="841248"/>
          </a:xfrm>
          <a:prstGeom prst="roundRect">
            <a:avLst/>
          </a:prstGeom>
          <a:solidFill>
            <a:srgbClr val="20352B"/>
          </a:solidFill>
          <a:ln w="8890">
            <a:solidFill>
              <a:srgbClr val="C4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71816" y="987552"/>
            <a:ext cx="2807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49A3A"/>
                </a:solidFill>
                <a:latin typeface="Microsoft YaHei"/>
              </a:rPr>
              <a:t>9.82%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1435608"/>
            <a:ext cx="2843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A组最佳年化收益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947672"/>
            <a:ext cx="3063240" cy="841248"/>
          </a:xfrm>
          <a:prstGeom prst="roundRect">
            <a:avLst/>
          </a:prstGeom>
          <a:solidFill>
            <a:srgbClr val="20352B"/>
          </a:solidFill>
          <a:ln w="8890">
            <a:solidFill>
              <a:srgbClr val="C4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2066544"/>
            <a:ext cx="2807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49A3A"/>
                </a:solidFill>
                <a:latin typeface="Microsoft YaHei"/>
              </a:rPr>
              <a:t>90.49%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8" y="2514600"/>
            <a:ext cx="2843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相对沪深300超额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026663"/>
            <a:ext cx="3063240" cy="841248"/>
          </a:xfrm>
          <a:prstGeom prst="roundRect">
            <a:avLst/>
          </a:prstGeom>
          <a:solidFill>
            <a:srgbClr val="20352B"/>
          </a:solidFill>
          <a:ln w="8890">
            <a:solidFill>
              <a:srgbClr val="6FA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71816" y="3145535"/>
            <a:ext cx="2807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FA081"/>
                </a:solidFill>
                <a:latin typeface="Microsoft YaHei"/>
              </a:rPr>
              <a:t>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3593591"/>
            <a:ext cx="2843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覆盖股票数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105656"/>
            <a:ext cx="3063240" cy="841248"/>
          </a:xfrm>
          <a:prstGeom prst="roundRect">
            <a:avLst/>
          </a:prstGeom>
          <a:solidFill>
            <a:srgbClr val="20352B"/>
          </a:solidFill>
          <a:ln w="8890">
            <a:solidFill>
              <a:srgbClr val="6FA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1816" y="4224528"/>
            <a:ext cx="2807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FA081"/>
                </a:solidFill>
                <a:latin typeface="Microsoft YaHei"/>
              </a:rPr>
              <a:t>2018-2024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4672584"/>
            <a:ext cx="2843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样本外价格回测</a:t>
            </a:r>
          </a:p>
        </p:txBody>
      </p:sp>
      <p:sp>
        <p:nvSpPr>
          <p:cNvPr id="20" name="Oval 19"/>
          <p:cNvSpPr/>
          <p:nvPr/>
        </p:nvSpPr>
        <p:spPr>
          <a:xfrm>
            <a:off x="10744200" y="6126480"/>
            <a:ext cx="73152" cy="73152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99648" y="5998464"/>
            <a:ext cx="73152" cy="73152"/>
          </a:xfrm>
          <a:prstGeom prst="ellipse">
            <a:avLst/>
          </a:prstGeom>
          <a:solidFill>
            <a:srgbClr val="6FA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55096" y="5870448"/>
            <a:ext cx="73152" cy="73152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10544" y="5742432"/>
            <a:ext cx="73152" cy="73152"/>
          </a:xfrm>
          <a:prstGeom prst="ellipse">
            <a:avLst/>
          </a:prstGeom>
          <a:solidFill>
            <a:srgbClr val="6FA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65992" y="5614416"/>
            <a:ext cx="73152" cy="73152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144768"/>
            <a:ext cx="301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8138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24"/>
                </a:solidFill>
                <a:latin typeface="Microsoft YaHei"/>
              </a:rPr>
              <a:t>把“三好”拆成可验证的财务信号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85953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从投资理念到量化因子：先保证经济含义，再做统计检验。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作业6B | 基于FCFF的价值投资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3246120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664208"/>
            <a:ext cx="1325880" cy="256032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77924"/>
            <a:ext cx="132588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盈利能力和资产效率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04825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24"/>
                </a:solidFill>
                <a:latin typeface="Microsoft YaHei"/>
              </a:rPr>
              <a:t>好商业模式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2624328"/>
            <a:ext cx="91440" cy="91440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542032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净利润复合增速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3063240"/>
            <a:ext cx="91440" cy="91440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2980944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销售毛利率 / 净利率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3502152"/>
            <a:ext cx="91440" cy="91440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419856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轻资产、低负债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444752"/>
            <a:ext cx="3246120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36008" y="1664208"/>
            <a:ext cx="1325880" cy="256032"/>
          </a:xfrm>
          <a:prstGeom prst="roundRect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1677924"/>
            <a:ext cx="132588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长期资本回报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204825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24"/>
                </a:solidFill>
                <a:latin typeface="Microsoft YaHei"/>
              </a:rPr>
              <a:t>经济护城河</a:t>
            </a:r>
          </a:p>
        </p:txBody>
      </p:sp>
      <p:sp>
        <p:nvSpPr>
          <p:cNvPr id="22" name="Oval 21"/>
          <p:cNvSpPr/>
          <p:nvPr/>
        </p:nvSpPr>
        <p:spPr>
          <a:xfrm>
            <a:off x="4690872" y="2624328"/>
            <a:ext cx="91440" cy="91440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2542032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年平均ROE</a:t>
            </a:r>
          </a:p>
        </p:txBody>
      </p:sp>
      <p:sp>
        <p:nvSpPr>
          <p:cNvPr id="24" name="Oval 23"/>
          <p:cNvSpPr/>
          <p:nvPr/>
        </p:nvSpPr>
        <p:spPr>
          <a:xfrm>
            <a:off x="4690872" y="3063240"/>
            <a:ext cx="91440" cy="91440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2980944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三费费率 / 营收</a:t>
            </a:r>
          </a:p>
        </p:txBody>
      </p:sp>
      <p:sp>
        <p:nvSpPr>
          <p:cNvPr id="26" name="Oval 25"/>
          <p:cNvSpPr/>
          <p:nvPr/>
        </p:nvSpPr>
        <p:spPr>
          <a:xfrm>
            <a:off x="4690872" y="3502152"/>
            <a:ext cx="91440" cy="91440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8" y="3419856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稳定经营效率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444752"/>
            <a:ext cx="3246120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9328" y="1664208"/>
            <a:ext cx="1325880" cy="256032"/>
          </a:xfrm>
          <a:prstGeom prst="roundRect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1677924"/>
            <a:ext cx="132588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真实可分配资金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204825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A24"/>
                </a:solidFill>
                <a:latin typeface="Microsoft YaHei"/>
              </a:rPr>
              <a:t>长期现金流</a:t>
            </a:r>
          </a:p>
        </p:txBody>
      </p:sp>
      <p:sp>
        <p:nvSpPr>
          <p:cNvPr id="32" name="Oval 31"/>
          <p:cNvSpPr/>
          <p:nvPr/>
        </p:nvSpPr>
        <p:spPr>
          <a:xfrm>
            <a:off x="8394192" y="2624328"/>
            <a:ext cx="91440" cy="91440"/>
          </a:xfrm>
          <a:prstGeom prst="ellipse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7928" y="2542032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经营现金流 / 净利润</a:t>
            </a:r>
          </a:p>
        </p:txBody>
      </p:sp>
      <p:sp>
        <p:nvSpPr>
          <p:cNvPr id="34" name="Oval 33"/>
          <p:cNvSpPr/>
          <p:nvPr/>
        </p:nvSpPr>
        <p:spPr>
          <a:xfrm>
            <a:off x="8394192" y="3063240"/>
            <a:ext cx="91440" cy="91440"/>
          </a:xfrm>
          <a:prstGeom prst="ellipse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7928" y="2980944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分红率 / 股息率</a:t>
            </a:r>
          </a:p>
        </p:txBody>
      </p:sp>
      <p:sp>
        <p:nvSpPr>
          <p:cNvPr id="36" name="Oval 35"/>
          <p:cNvSpPr/>
          <p:nvPr/>
        </p:nvSpPr>
        <p:spPr>
          <a:xfrm>
            <a:off x="8394192" y="3502152"/>
            <a:ext cx="91440" cy="91440"/>
          </a:xfrm>
          <a:prstGeom prst="ellipse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67928" y="3419856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FCFF收益率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" y="4882896"/>
            <a:ext cx="4663440" cy="749808"/>
          </a:xfrm>
          <a:prstGeom prst="roundRect">
            <a:avLst/>
          </a:prstGeom>
          <a:solidFill>
            <a:srgbClr val="EEF4EE"/>
          </a:solidFill>
          <a:ln w="8890">
            <a:solidFill>
              <a:srgbClr val="B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61872" y="5074920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57"/>
                </a:solidFill>
                <a:latin typeface="Microsoft YaHei"/>
              </a:rPr>
              <a:t>方案A：固定阈值硬筛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5074920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A24"/>
                </a:solidFill>
                <a:latin typeface="Microsoft YaHei"/>
              </a:rPr>
              <a:t>透明、稳定、便于解释，但阈值僵硬。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4882896"/>
            <a:ext cx="4663440" cy="749808"/>
          </a:xfrm>
          <a:prstGeom prst="roundRect">
            <a:avLst/>
          </a:prstGeom>
          <a:solidFill>
            <a:srgbClr val="F8F2E4"/>
          </a:solidFill>
          <a:ln w="8890">
            <a:solidFill>
              <a:srgbClr val="D8C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56832" y="507492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9A3A"/>
                </a:solidFill>
                <a:latin typeface="Microsoft YaHei"/>
              </a:rPr>
              <a:t>方案B：LGBM综合打分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5074920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A24"/>
                </a:solidFill>
                <a:latin typeface="Microsoft YaHei"/>
              </a:rPr>
              <a:t>捕捉非线性交互，但必须严控过拟合。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144768"/>
            <a:ext cx="301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8138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24"/>
                </a:solidFill>
                <a:latin typeface="Microsoft YaHei"/>
              </a:rPr>
              <a:t>数据口径先收紧，再谈策略表现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85953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按教师提供文件可复现执行，并显式处理题目年份与实际文件的差异。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作业6B | 基于FCFF的价值投资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2249424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536192"/>
            <a:ext cx="19933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7D57"/>
                </a:solidFill>
                <a:latin typeface="Microsoft YaHei"/>
              </a:rPr>
              <a:t>2014.03.31</a:t>
            </a:r>
          </a:p>
          <a:p>
            <a:pPr algn="ctr"/>
            <a:r>
              <a:rPr sz="2400" b="1">
                <a:solidFill>
                  <a:srgbClr val="2E7D57"/>
                </a:solidFill>
                <a:latin typeface="Microsoft YaHei"/>
              </a:rPr>
              <a:t>-</a:t>
            </a:r>
          </a:p>
          <a:p>
            <a:pPr algn="ctr"/>
            <a:r>
              <a:rPr sz="2400" b="1">
                <a:solidFill>
                  <a:srgbClr val="2E7D57"/>
                </a:solidFill>
                <a:latin typeface="Microsoft YaHei"/>
              </a:rPr>
              <a:t>2024.12.31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实际行情区间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7016" y="1417320"/>
            <a:ext cx="2249424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536192"/>
            <a:ext cx="19933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49A3A"/>
                </a:solidFill>
                <a:latin typeface="Microsoft YaHei"/>
              </a:rPr>
              <a:t>2014-2024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84248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年度财务截面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1417320"/>
            <a:ext cx="2249424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36192"/>
            <a:ext cx="19933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476A8A"/>
                </a:solidFill>
                <a:latin typeface="Microsoft YaHei"/>
              </a:rPr>
              <a:t>803 -&gt; 446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84248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成分过滤前后面板行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6568" y="1417320"/>
            <a:ext cx="2249424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1536192"/>
            <a:ext cx="19933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95D55"/>
                </a:solidFill>
                <a:latin typeface="Microsoft YaHei"/>
              </a:rPr>
              <a:t>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1984248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最终股票数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2935224"/>
            <a:ext cx="118872" cy="118872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2907792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7D57"/>
                </a:solidFill>
                <a:latin typeface="Microsoft YaHei"/>
              </a:rPr>
              <a:t>防泄露时间线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657600"/>
            <a:ext cx="9966960" cy="45720"/>
          </a:xfrm>
          <a:prstGeom prst="rect">
            <a:avLst/>
          </a:prstGeom>
          <a:solidFill>
            <a:srgbClr val="C8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3538728"/>
            <a:ext cx="283464" cy="283464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96849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" y="4261104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68736B"/>
                </a:solidFill>
                <a:latin typeface="Microsoft YaHei"/>
              </a:rPr>
              <a:t>建模起点</a:t>
            </a:r>
          </a:p>
        </p:txBody>
      </p:sp>
      <p:sp>
        <p:nvSpPr>
          <p:cNvPr id="26" name="Oval 25"/>
          <p:cNvSpPr/>
          <p:nvPr/>
        </p:nvSpPr>
        <p:spPr>
          <a:xfrm>
            <a:off x="3328416" y="3538728"/>
            <a:ext cx="283464" cy="283464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396849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2016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261104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68736B"/>
                </a:solidFill>
                <a:latin typeface="Microsoft YaHei"/>
              </a:rPr>
              <a:t>训练标签截止</a:t>
            </a:r>
          </a:p>
        </p:txBody>
      </p:sp>
      <p:sp>
        <p:nvSpPr>
          <p:cNvPr id="29" name="Oval 28"/>
          <p:cNvSpPr/>
          <p:nvPr/>
        </p:nvSpPr>
        <p:spPr>
          <a:xfrm>
            <a:off x="5815584" y="3538728"/>
            <a:ext cx="283464" cy="283464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0408" y="396849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2018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4261104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68736B"/>
                </a:solidFill>
                <a:latin typeface="Microsoft YaHei"/>
              </a:rPr>
              <a:t>样本外价格回测开始</a:t>
            </a:r>
          </a:p>
        </p:txBody>
      </p:sp>
      <p:sp>
        <p:nvSpPr>
          <p:cNvPr id="32" name="Oval 31"/>
          <p:cNvSpPr/>
          <p:nvPr/>
        </p:nvSpPr>
        <p:spPr>
          <a:xfrm>
            <a:off x="8302752" y="3538728"/>
            <a:ext cx="283464" cy="283464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7576" y="396849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2021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3256" y="4261104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68736B"/>
                </a:solidFill>
                <a:latin typeface="Microsoft YaHei"/>
              </a:rPr>
              <a:t>3年FCFF标签最后可验证</a:t>
            </a:r>
          </a:p>
        </p:txBody>
      </p:sp>
      <p:sp>
        <p:nvSpPr>
          <p:cNvPr id="35" name="Oval 34"/>
          <p:cNvSpPr/>
          <p:nvPr/>
        </p:nvSpPr>
        <p:spPr>
          <a:xfrm>
            <a:off x="10789920" y="3538728"/>
            <a:ext cx="283464" cy="283464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24744" y="396849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0424" y="4261104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68736B"/>
                </a:solidFill>
                <a:latin typeface="Microsoft YaHei"/>
              </a:rPr>
              <a:t>行情终点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" y="5212080"/>
            <a:ext cx="10698480" cy="713232"/>
          </a:xfrm>
          <a:prstGeom prst="roundRect">
            <a:avLst/>
          </a:prstGeom>
          <a:solidFill>
            <a:srgbClr val="EEF4EE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" y="5422392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持仓年使用滞后2年的已披露年报得分，例如2018持仓使用2016财年得分，避免在年初使用尚未披露的财务信息。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144768"/>
            <a:ext cx="301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8138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24"/>
                </a:solidFill>
                <a:latin typeface="Microsoft YaHei"/>
              </a:rPr>
              <a:t>流程先控口径，再比较两套策略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85953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同一年度截面、同一A/B/C分组、同一交易规则，减少非模型因素干扰。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作业6B | 基于FCFF的价值投资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18288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530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0195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4"/>
                </a:solidFill>
                <a:latin typeface="Microsoft YaHei"/>
              </a:rPr>
              <a:t>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13990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8736B"/>
                </a:solidFill>
                <a:latin typeface="Microsoft YaHei"/>
              </a:rPr>
              <a:t>年报、分红、复权行情、沪深300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496312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6A69B"/>
                </a:solidFill>
                <a:latin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600200"/>
            <a:ext cx="18288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36392" y="1828800"/>
            <a:ext cx="530352" cy="530352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2" y="1938528"/>
            <a:ext cx="530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190195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4"/>
                </a:solidFill>
                <a:latin typeface="Microsoft YaHei"/>
              </a:rPr>
              <a:t>因子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2651760"/>
            <a:ext cx="13990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8736B"/>
                </a:solidFill>
                <a:latin typeface="Microsoft YaHei"/>
              </a:rPr>
              <a:t>F1-F11正向化、缩尾、Z标准化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496312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6A69B"/>
                </a:solidFill>
                <a:latin typeface="Microsoft YaHei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1600200"/>
            <a:ext cx="18288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04104" y="1828800"/>
            <a:ext cx="530352" cy="530352"/>
          </a:xfrm>
          <a:prstGeom prst="ellipse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4104" y="1938528"/>
            <a:ext cx="530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190195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4"/>
                </a:solidFill>
                <a:latin typeface="Microsoft YaHei"/>
              </a:rPr>
              <a:t>质检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2651760"/>
            <a:ext cx="13990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8736B"/>
                </a:solidFill>
                <a:latin typeface="Microsoft YaHei"/>
              </a:rPr>
              <a:t>IC/IR、VIF、单因子OLS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2496312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6A69B"/>
                </a:solidFill>
                <a:latin typeface="Microsoft YaHei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1504" y="1600200"/>
            <a:ext cx="18288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71816" y="1828800"/>
            <a:ext cx="530352" cy="530352"/>
          </a:xfrm>
          <a:prstGeom prst="ellipse">
            <a:avLst/>
          </a:prstGeom>
          <a:solidFill>
            <a:srgbClr val="A9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1816" y="1938528"/>
            <a:ext cx="530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190195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4"/>
                </a:solidFill>
                <a:latin typeface="Microsoft YaHei"/>
              </a:rPr>
              <a:t>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1816" y="2651760"/>
            <a:ext cx="13990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8736B"/>
                </a:solidFill>
                <a:latin typeface="Microsoft YaHei"/>
              </a:rPr>
              <a:t>树深≤3的LGBM非线性赋权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2496312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96A69B"/>
                </a:solidFill>
                <a:latin typeface="Microsoft YaHei"/>
              </a:rP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29216" y="1600200"/>
            <a:ext cx="18288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39528" y="1828800"/>
            <a:ext cx="530352" cy="530352"/>
          </a:xfrm>
          <a:prstGeom prst="ellipse">
            <a:avLst/>
          </a:prstGeom>
          <a:solidFill>
            <a:srgbClr val="20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9528" y="1938528"/>
            <a:ext cx="530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7896" y="190195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4"/>
                </a:solidFill>
                <a:latin typeface="Microsoft YaHei"/>
              </a:rPr>
              <a:t>回测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2651760"/>
            <a:ext cx="13990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8736B"/>
                </a:solidFill>
                <a:latin typeface="Microsoft YaHei"/>
              </a:rPr>
              <a:t>A/B/C分层，年度调仓等权持有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4617720"/>
            <a:ext cx="9921240" cy="786384"/>
          </a:xfrm>
          <a:prstGeom prst="roundRect">
            <a:avLst/>
          </a:prstGeom>
          <a:solidFill>
            <a:srgbClr val="F8F2E4"/>
          </a:solidFill>
          <a:ln w="8890">
            <a:solidFill>
              <a:srgbClr val="D8C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53312" y="482803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9A3A"/>
                </a:solidFill>
                <a:latin typeface="Microsoft YaHei"/>
              </a:rPr>
              <a:t>设计原则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67712" y="4828032"/>
            <a:ext cx="81838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A24"/>
                </a:solidFill>
                <a:latin typeface="Microsoft YaHei"/>
              </a:rPr>
              <a:t>先做因子质检和防泄露约束，再比较传统规则与LGBM，避免把数据口径问题误判为模型能力。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144768"/>
            <a:ext cx="301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8138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24"/>
                </a:solidFill>
                <a:latin typeface="Microsoft YaHei"/>
              </a:rPr>
              <a:t>毛利率、股息率和轻资产因子在IC上更稳定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85953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因子并非全部有效，保留进入模型的依据是经济含义 + 共线性可控 + 样本外检验。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作业6B | 基于FCFF的价值投资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6675120" cy="4389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ctor_ic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3093"/>
            <a:ext cx="6236208" cy="306897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7635240" y="1444752"/>
            <a:ext cx="118872" cy="118872"/>
          </a:xfrm>
          <a:prstGeom prst="ellipse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417320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E7D57"/>
                </a:solidFill>
                <a:latin typeface="Microsoft YaHei"/>
              </a:rPr>
              <a:t>IC/IR前5个因子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783080"/>
            <a:ext cx="3300984" cy="347472"/>
          </a:xfrm>
          <a:prstGeom prst="roundRect">
            <a:avLst/>
          </a:prstGeom>
          <a:solidFill>
            <a:srgbClr val="20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828800"/>
            <a:ext cx="1600200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因子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828800"/>
            <a:ext cx="603504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38944" y="1828800"/>
            <a:ext cx="530352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9296" y="1828800"/>
            <a:ext cx="566928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VIF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2130552"/>
            <a:ext cx="330098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167128"/>
            <a:ext cx="1600200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1F2A24"/>
                </a:solidFill>
                <a:latin typeface="Microsoft YaHei"/>
              </a:rPr>
              <a:t>F2 销售毛利率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67128"/>
            <a:ext cx="603504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2E7D57"/>
                </a:solidFill>
                <a:latin typeface="Microsoft YaHei"/>
              </a:rPr>
              <a:t>0.095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38944" y="2167128"/>
            <a:ext cx="530352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C49A3A"/>
                </a:solidFill>
                <a:latin typeface="Microsoft YaHei"/>
              </a:rPr>
              <a:t>0.82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9296" y="2167128"/>
            <a:ext cx="566928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68736B"/>
                </a:solidFill>
                <a:latin typeface="Microsoft YaHei"/>
              </a:rPr>
              <a:t>保留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2478024"/>
            <a:ext cx="3300984" cy="347472"/>
          </a:xfrm>
          <a:prstGeom prst="rect">
            <a:avLst/>
          </a:prstGeom>
          <a:solidFill>
            <a:srgbClr val="EEF2EC"/>
          </a:solidFill>
          <a:ln w="508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514600"/>
            <a:ext cx="1600200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1F2A24"/>
                </a:solidFill>
                <a:latin typeface="Microsoft YaHei"/>
              </a:rPr>
              <a:t>F10 股息率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514600"/>
            <a:ext cx="603504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2E7D57"/>
                </a:solidFill>
                <a:latin typeface="Microsoft YaHei"/>
              </a:rPr>
              <a:t>0.068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8944" y="2514600"/>
            <a:ext cx="530352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C49A3A"/>
                </a:solidFill>
                <a:latin typeface="Microsoft YaHei"/>
              </a:rPr>
              <a:t>0.40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9296" y="2514600"/>
            <a:ext cx="566928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68736B"/>
                </a:solidFill>
                <a:latin typeface="Microsoft YaHei"/>
              </a:rPr>
              <a:t>保留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25496"/>
            <a:ext cx="330098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2862072"/>
            <a:ext cx="1600200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1F2A24"/>
                </a:solidFill>
                <a:latin typeface="Microsoft YaHei"/>
              </a:rPr>
              <a:t>F4 固资/总资产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862072"/>
            <a:ext cx="603504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2E7D57"/>
                </a:solidFill>
                <a:latin typeface="Microsoft YaHei"/>
              </a:rPr>
              <a:t>0.054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8944" y="2862072"/>
            <a:ext cx="530352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C49A3A"/>
                </a:solidFill>
                <a:latin typeface="Microsoft YaHei"/>
              </a:rPr>
              <a:t>0.27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9296" y="2862072"/>
            <a:ext cx="566928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68736B"/>
                </a:solidFill>
                <a:latin typeface="Microsoft YaHei"/>
              </a:rPr>
              <a:t>保留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3172968"/>
            <a:ext cx="3300984" cy="347472"/>
          </a:xfrm>
          <a:prstGeom prst="rect">
            <a:avLst/>
          </a:prstGeom>
          <a:solidFill>
            <a:srgbClr val="EEF2EC"/>
          </a:solidFill>
          <a:ln w="508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3209544"/>
            <a:ext cx="1600200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1F2A24"/>
                </a:solidFill>
                <a:latin typeface="Microsoft YaHei"/>
              </a:rPr>
              <a:t>F9 分红率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209544"/>
            <a:ext cx="603504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2E7D57"/>
                </a:solidFill>
                <a:latin typeface="Microsoft YaHei"/>
              </a:rPr>
              <a:t>0.053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38944" y="3209544"/>
            <a:ext cx="530352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C49A3A"/>
                </a:solidFill>
                <a:latin typeface="Microsoft YaHei"/>
              </a:rPr>
              <a:t>0.64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9296" y="3209544"/>
            <a:ext cx="566928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68736B"/>
                </a:solidFill>
                <a:latin typeface="Microsoft YaHei"/>
              </a:rPr>
              <a:t>保留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3520440"/>
            <a:ext cx="3300984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3557016"/>
            <a:ext cx="1600200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1F2A24"/>
                </a:solidFill>
                <a:latin typeface="Microsoft YaHei"/>
              </a:rPr>
              <a:t>F3 销售净利率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557016"/>
            <a:ext cx="603504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2E7D57"/>
                </a:solidFill>
                <a:latin typeface="Microsoft YaHei"/>
              </a:rPr>
              <a:t>0.023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3557016"/>
            <a:ext cx="530352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C49A3A"/>
                </a:solidFill>
                <a:latin typeface="Microsoft YaHei"/>
              </a:rPr>
              <a:t>0.19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9296" y="3557016"/>
            <a:ext cx="566928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68736B"/>
                </a:solidFill>
                <a:latin typeface="Microsoft YaHei"/>
              </a:rPr>
              <a:t>保留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4315968"/>
            <a:ext cx="3520440" cy="987552"/>
          </a:xfrm>
          <a:prstGeom prst="roundRect">
            <a:avLst/>
          </a:prstGeom>
          <a:solidFill>
            <a:srgbClr val="EEF4EE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45552" y="4517136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7D57"/>
                </a:solidFill>
                <a:latin typeface="Microsoft YaHei"/>
              </a:rPr>
              <a:t>读图结论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2" y="4498848"/>
            <a:ext cx="2148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F2A24"/>
                </a:solidFill>
                <a:latin typeface="Microsoft YaHei"/>
              </a:rPr>
              <a:t>质量较好的信号集中在盈利质量和股东回报；FCFF收益率本身IC偏弱，后续必须结合分层和价格回测再判断。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144768"/>
            <a:ext cx="301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8138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24"/>
                </a:solidFill>
                <a:latin typeface="Microsoft YaHei"/>
              </a:rPr>
              <a:t>LGBM权重集中在费用、现金流和负债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85953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小样本下限制树深与叶子数，重点观察样本外分层，而不是训练拟合。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作业6B | 基于FCFF的价值投资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6720840" cy="4315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905525"/>
            <a:ext cx="6291072" cy="3092669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7635240" y="1380744"/>
            <a:ext cx="118872" cy="118872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353312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C49A3A"/>
                </a:solidFill>
                <a:latin typeface="Microsoft YaHei"/>
              </a:rPr>
              <a:t>重要度占比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737360"/>
            <a:ext cx="224028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F2A24"/>
                </a:solidFill>
                <a:latin typeface="Microsoft YaHei"/>
              </a:rPr>
              <a:t>F7 三费费率/营收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30384" y="1773936"/>
            <a:ext cx="1051560" cy="100584"/>
          </a:xfrm>
          <a:prstGeom prst="rect">
            <a:avLst/>
          </a:prstGeom>
          <a:solidFill>
            <a:srgbClr val="E3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30384" y="1773936"/>
            <a:ext cx="996827" cy="100584"/>
          </a:xfrm>
          <a:prstGeom prst="rect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18520" y="1709928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37.9%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240280"/>
            <a:ext cx="224028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F2A24"/>
                </a:solidFill>
                <a:latin typeface="Microsoft YaHei"/>
              </a:rPr>
              <a:t>F8 经营现金流净额/净利润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0384" y="2276856"/>
            <a:ext cx="1051560" cy="100584"/>
          </a:xfrm>
          <a:prstGeom prst="rect">
            <a:avLst/>
          </a:prstGeom>
          <a:solidFill>
            <a:srgbClr val="E3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30384" y="2276856"/>
            <a:ext cx="483764" cy="100584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18520" y="2212848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18.4%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743200"/>
            <a:ext cx="224028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F2A24"/>
                </a:solidFill>
                <a:latin typeface="Microsoft YaHei"/>
              </a:rPr>
              <a:t>F5 资产负债率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30384" y="2779776"/>
            <a:ext cx="1051560" cy="100584"/>
          </a:xfrm>
          <a:prstGeom prst="rect">
            <a:avLst/>
          </a:prstGeom>
          <a:solidFill>
            <a:srgbClr val="E3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30384" y="2779776"/>
            <a:ext cx="407699" cy="100584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18520" y="2715768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15.5%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246120"/>
            <a:ext cx="224028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F2A24"/>
                </a:solidFill>
                <a:latin typeface="Microsoft YaHei"/>
              </a:rPr>
              <a:t>F11 FCFF收益率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30384" y="3282696"/>
            <a:ext cx="1051560" cy="100584"/>
          </a:xfrm>
          <a:prstGeom prst="rect">
            <a:avLst/>
          </a:prstGeom>
          <a:solidFill>
            <a:srgbClr val="E3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30384" y="3282696"/>
            <a:ext cx="249879" cy="100584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18520" y="3218688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749039"/>
            <a:ext cx="2240280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F2A24"/>
                </a:solidFill>
                <a:latin typeface="Microsoft YaHei"/>
              </a:rPr>
              <a:t>F9 分红率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30384" y="3785615"/>
            <a:ext cx="1051560" cy="100584"/>
          </a:xfrm>
          <a:prstGeom prst="rect">
            <a:avLst/>
          </a:prstGeom>
          <a:solidFill>
            <a:srgbClr val="E3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30384" y="3785615"/>
            <a:ext cx="139049" cy="100584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18520" y="3721607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5.3%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4572000"/>
            <a:ext cx="1664208" cy="749808"/>
          </a:xfrm>
          <a:prstGeom prst="roundRect">
            <a:avLst/>
          </a:prstGeom>
          <a:solidFill>
            <a:srgbClr val="EEF4EE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4727448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8736B"/>
                </a:solidFill>
                <a:latin typeface="Microsoft YaHei"/>
              </a:rPr>
              <a:t>CV折数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4" y="4645152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7D57"/>
                </a:solidFill>
                <a:latin typeface="Microsoft YaHei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4572000"/>
            <a:ext cx="1664208" cy="749808"/>
          </a:xfrm>
          <a:prstGeom prst="roundRect">
            <a:avLst/>
          </a:prstGeom>
          <a:solidFill>
            <a:srgbClr val="F8F2E4"/>
          </a:solidFill>
          <a:ln w="8890">
            <a:solidFill>
              <a:srgbClr val="D8C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4727448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8736B"/>
                </a:solidFill>
                <a:latin typeface="Microsoft YaHei"/>
              </a:rPr>
              <a:t>平均MSE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4663440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49A3A"/>
                </a:solidFill>
                <a:latin typeface="Microsoft YaHei"/>
              </a:rPr>
              <a:t>595.88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5559552"/>
            <a:ext cx="3520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8736B"/>
                </a:solidFill>
                <a:latin typeface="Microsoft YaHei"/>
              </a:rPr>
              <a:t>控参：max_depth=3，num_leaves=7，min_data_in_leaf=5，L2正则。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144768"/>
            <a:ext cx="301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8138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24"/>
                </a:solidFill>
                <a:latin typeface="Microsoft YaHei"/>
              </a:rPr>
              <a:t>A方案更透明，B方案更灵活，但回测规则保持一致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85953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比较对象只改变选股信号，不改变年度调仓、等权持有、手续费和基准。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作业6B | 基于FCFF的价值投资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120640" cy="2971800"/>
          </a:xfrm>
          <a:prstGeom prst="roundRect">
            <a:avLst/>
          </a:prstGeom>
          <a:solidFill>
            <a:srgbClr val="EEF4EE"/>
          </a:solidFill>
          <a:ln w="8890">
            <a:solidFill>
              <a:srgbClr val="B7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1691640"/>
            <a:ext cx="658368" cy="256032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05356"/>
            <a:ext cx="65836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方案A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84831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57"/>
                </a:solidFill>
                <a:latin typeface="Microsoft YaHei"/>
              </a:rPr>
              <a:t>固定阈值硬筛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542032"/>
            <a:ext cx="44348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A24"/>
                </a:solidFill>
                <a:latin typeface="Microsoft YaHei"/>
              </a:rPr>
              <a:t>A组必须同时通过盈利、负债、ROE、费用、现金流、分红、股息率和FCFF阈值。</a:t>
            </a:r>
          </a:p>
          <a:p>
            <a:pPr algn="l"/>
            <a:r>
              <a:rPr sz="900" b="0">
                <a:solidFill>
                  <a:srgbClr val="1F2A24"/>
                </a:solidFill>
                <a:latin typeface="Microsoft YaHei"/>
              </a:rPr>
              <a:t/>
            </a:r>
          </a:p>
          <a:p>
            <a:pPr algn="l"/>
            <a:r>
              <a:rPr sz="900" b="0">
                <a:solidFill>
                  <a:srgbClr val="1F2A24"/>
                </a:solidFill>
                <a:latin typeface="Microsoft YaHei"/>
              </a:rPr>
              <a:t>优点：解释清晰、抗过拟合。</a:t>
            </a:r>
          </a:p>
          <a:p>
            <a:pPr algn="l"/>
            <a:r>
              <a:rPr sz="900" b="0">
                <a:solidFill>
                  <a:srgbClr val="1F2A24"/>
                </a:solidFill>
                <a:latin typeface="Microsoft YaHei"/>
              </a:rPr>
              <a:t>缺点：阈值僵硬，边界样本容易被误伤。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120640" cy="2971800"/>
          </a:xfrm>
          <a:prstGeom prst="roundRect">
            <a:avLst/>
          </a:prstGeom>
          <a:solidFill>
            <a:srgbClr val="F8F2E4"/>
          </a:solidFill>
          <a:ln w="8890">
            <a:solidFill>
              <a:srgbClr val="D8C2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1691640"/>
            <a:ext cx="658368" cy="256032"/>
          </a:xfrm>
          <a:prstGeom prst="roundRect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05356"/>
            <a:ext cx="65836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方案B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84831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49A3A"/>
                </a:solidFill>
                <a:latin typeface="Microsoft YaHei"/>
              </a:rPr>
              <a:t>LGBM综合打分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542032"/>
            <a:ext cx="437083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F2A24"/>
                </a:solidFill>
                <a:latin typeface="Microsoft YaHei"/>
              </a:rPr>
              <a:t>用通过VIF质检的标准化因子预测未来1年FCFF增速，分数越高代表价值预期越好。</a:t>
            </a:r>
          </a:p>
          <a:p>
            <a:pPr algn="l"/>
            <a:r>
              <a:rPr sz="900" b="0">
                <a:solidFill>
                  <a:srgbClr val="1F2A24"/>
                </a:solidFill>
                <a:latin typeface="Microsoft YaHei"/>
              </a:rPr>
              <a:t/>
            </a:r>
          </a:p>
          <a:p>
            <a:pPr algn="l"/>
            <a:r>
              <a:rPr sz="900" b="0">
                <a:solidFill>
                  <a:srgbClr val="1F2A24"/>
                </a:solidFill>
                <a:latin typeface="Microsoft YaHei"/>
              </a:rPr>
              <a:t>优点：捕捉非线性交互。</a:t>
            </a:r>
          </a:p>
          <a:p>
            <a:pPr algn="l"/>
            <a:r>
              <a:rPr sz="900" b="0">
                <a:solidFill>
                  <a:srgbClr val="1F2A24"/>
                </a:solidFill>
                <a:latin typeface="Microsoft YaHei"/>
              </a:rPr>
              <a:t>缺点：小样本下更依赖样本外验证。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892040"/>
            <a:ext cx="10131552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50749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68736B"/>
                </a:solidFill>
                <a:latin typeface="Microsoft YaHei"/>
              </a:rPr>
              <a:t>持仓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5047488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2018-2024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50749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68736B"/>
                </a:solidFill>
                <a:latin typeface="Microsoft YaHei"/>
              </a:rPr>
              <a:t>得分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5047488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滞后2年年报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50749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68736B"/>
                </a:solidFill>
                <a:latin typeface="Microsoft YaHei"/>
              </a:rPr>
              <a:t>权重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1264" y="5047488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年度等权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50749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68736B"/>
                </a:solidFill>
                <a:latin typeface="Microsoft YaHei"/>
              </a:rPr>
              <a:t>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5047488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单边0.1%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5074920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68736B"/>
                </a:solidFill>
                <a:latin typeface="Microsoft YaHei"/>
              </a:rPr>
              <a:t>基准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5047488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2A24"/>
                </a:solidFill>
                <a:latin typeface="Microsoft YaHei"/>
              </a:rPr>
              <a:t>沪深300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144768"/>
            <a:ext cx="301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8138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24"/>
                </a:solidFill>
                <a:latin typeface="Microsoft YaHei"/>
              </a:rPr>
              <a:t>FCFF分层没有形成单调，基本面标签噪声较强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85953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A组并未稳定高于B/C组，说明FCFF增速受极端值和行业差异影响明显。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作业6B | 基于FCFF的价值投资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7406640" cy="4480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cff_group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263122"/>
            <a:ext cx="6967728" cy="265179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21040" y="1417320"/>
            <a:ext cx="265176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1536192"/>
            <a:ext cx="23957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7D57"/>
                </a:solidFill>
                <a:latin typeface="Microsoft YaHei"/>
              </a:rPr>
              <a:t>4.42%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1984248"/>
            <a:ext cx="24323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方案A测试集A组3年FCFF增速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542032"/>
            <a:ext cx="265176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6" y="2660904"/>
            <a:ext cx="23957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49A3A"/>
                </a:solidFill>
                <a:latin typeface="Microsoft YaHei"/>
              </a:rPr>
              <a:t>37.75%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108960"/>
            <a:ext cx="24323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方案B测试集A组3年FCFF增速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657600"/>
            <a:ext cx="265176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3776472"/>
            <a:ext cx="23957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95D55"/>
                </a:solidFill>
                <a:latin typeface="Microsoft YaHei"/>
              </a:rPr>
              <a:t>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4224528"/>
            <a:ext cx="24323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A&gt;B&gt;C单调性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864608"/>
            <a:ext cx="2651760" cy="841248"/>
          </a:xfrm>
          <a:prstGeom prst="roundRect">
            <a:avLst/>
          </a:prstGeom>
          <a:solidFill>
            <a:srgbClr val="F8F2E4"/>
          </a:solidFill>
          <a:ln w="8890">
            <a:solidFill>
              <a:srgbClr val="D8C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5047488"/>
            <a:ext cx="777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C49A3A"/>
                </a:solidFill>
                <a:latin typeface="Microsoft YaHei"/>
              </a:rPr>
              <a:t>解释口径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4983480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2A24"/>
                </a:solidFill>
                <a:latin typeface="Microsoft YaHei"/>
              </a:rPr>
              <a:t>现金流验证不单调，因此不能只凭FCFF标签宣布模型有效。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144768"/>
            <a:ext cx="301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8138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24"/>
                </a:solidFill>
                <a:latin typeface="Microsoft YaHei"/>
              </a:rPr>
              <a:t>样本外价格回测：A组跑赢沪深300，但回撤仍约30%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85953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价格表现优于基准；风险暴露和行业集中度仍需进一步拆解。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作业6B | 基于FCFF的价值投资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61872"/>
            <a:ext cx="7360920" cy="45354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ice_na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75523"/>
            <a:ext cx="6995160" cy="319041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75320" y="1325880"/>
            <a:ext cx="2670048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3336" y="1444752"/>
            <a:ext cx="24140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7D57"/>
                </a:solidFill>
                <a:latin typeface="Microsoft YaHei"/>
              </a:rPr>
              <a:t>88.11%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892808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方案A A组累计收益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322576"/>
            <a:ext cx="2670048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2441448"/>
            <a:ext cx="24140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49A3A"/>
                </a:solidFill>
                <a:latin typeface="Microsoft YaHei"/>
              </a:rPr>
              <a:t>9.82%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889504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方案A A组年化收益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319272"/>
            <a:ext cx="2670048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3438144"/>
            <a:ext cx="24140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476A8A"/>
                </a:solidFill>
                <a:latin typeface="Microsoft YaHei"/>
              </a:rPr>
              <a:t>90.49%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88620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方案A相对沪深300超额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4315968"/>
            <a:ext cx="2670048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4434840"/>
            <a:ext cx="24140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95D55"/>
                </a:solidFill>
                <a:latin typeface="Microsoft YaHei"/>
              </a:rPr>
              <a:t>-30.21%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4882896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F2A24"/>
                </a:solidFill>
                <a:latin typeface="Microsoft YaHei"/>
              </a:rPr>
              <a:t>方案A最大回撤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5422392"/>
            <a:ext cx="2606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8736B"/>
                </a:solidFill>
                <a:latin typeface="Microsoft YaHei"/>
              </a:rPr>
              <a:t>LGBM A组年化收益为 7.38%，略低于传统规则A组。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144768"/>
            <a:ext cx="301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8138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24"/>
                </a:solidFill>
                <a:latin typeface="Microsoft YaHei"/>
              </a:rPr>
              <a:t>收益不是单一年份贡献，风险控制仍是短板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85953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年度收益、核心指标和因子画像一起看，避免只盯最终净值。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作业6B | 基于FCFF的价值投资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635508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3833947"/>
            <a:ext cx="5148072" cy="10972"/>
          </a:xfrm>
          <a:prstGeom prst="rect">
            <a:avLst/>
          </a:prstGeom>
          <a:solidFill>
            <a:srgbClr val="AE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00" b="0">
                <a:solidFill>
                  <a:srgbClr val="68736B"/>
                </a:solidFill>
                <a:latin typeface="Microsoft YaHei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42507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00" b="0">
                <a:solidFill>
                  <a:srgbClr val="68736B"/>
                </a:solidFill>
                <a:latin typeface="Microsoft YaHe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498847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00" b="0">
                <a:solidFill>
                  <a:srgbClr val="68736B"/>
                </a:solidFill>
                <a:latin typeface="Microsoft YaHei"/>
              </a:rPr>
              <a:t>-20%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4569" y="3833947"/>
            <a:ext cx="118872" cy="346187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8305" y="3833947"/>
            <a:ext cx="118872" cy="649378"/>
          </a:xfrm>
          <a:prstGeom prst="rect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841" y="4690871"/>
            <a:ext cx="5120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8736B"/>
                </a:solidFill>
                <a:latin typeface="Microsoft YaHei"/>
              </a:rPr>
              <a:t>2018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9963" y="2688942"/>
            <a:ext cx="118872" cy="1145005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93699" y="2761098"/>
            <a:ext cx="118872" cy="1072849"/>
          </a:xfrm>
          <a:prstGeom prst="rect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0235" y="4690871"/>
            <a:ext cx="5120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8736B"/>
                </a:solidFill>
                <a:latin typeface="Microsoft YaHei"/>
              </a:rPr>
              <a:t>2019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5357" y="1919841"/>
            <a:ext cx="118872" cy="1914106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99093" y="2460238"/>
            <a:ext cx="118872" cy="1373709"/>
          </a:xfrm>
          <a:prstGeom prst="rect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5629" y="4690871"/>
            <a:ext cx="5120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8736B"/>
                </a:solidFill>
                <a:latin typeface="Microsoft YaHei"/>
              </a:rPr>
              <a:t>2020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30751" y="3345898"/>
            <a:ext cx="118872" cy="488049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04487" y="3833947"/>
            <a:ext cx="118872" cy="139192"/>
          </a:xfrm>
          <a:prstGeom prst="rect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3" y="4690871"/>
            <a:ext cx="5120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8736B"/>
                </a:solidFill>
                <a:latin typeface="Microsoft YaHei"/>
              </a:rPr>
              <a:t>2021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6145" y="3833947"/>
            <a:ext cx="118872" cy="669963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09881" y="3833947"/>
            <a:ext cx="118872" cy="511059"/>
          </a:xfrm>
          <a:prstGeom prst="rect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6417" y="4690871"/>
            <a:ext cx="5120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8736B"/>
                </a:solidFill>
                <a:latin typeface="Microsoft YaHei"/>
              </a:rPr>
              <a:t>2022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41539" y="3833947"/>
            <a:ext cx="118872" cy="252243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15275" y="3694160"/>
            <a:ext cx="118872" cy="139787"/>
          </a:xfrm>
          <a:prstGeom prst="rect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31811" y="4690871"/>
            <a:ext cx="5120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8736B"/>
                </a:solidFill>
                <a:latin typeface="Microsoft YaHei"/>
              </a:rPr>
              <a:t>2023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46933" y="2933056"/>
            <a:ext cx="118872" cy="900891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20669" y="2672464"/>
            <a:ext cx="118872" cy="1161483"/>
          </a:xfrm>
          <a:prstGeom prst="rect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37205" y="4690871"/>
            <a:ext cx="5120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68736B"/>
                </a:solidFill>
                <a:latin typeface="Microsoft YaHei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1618487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2A24"/>
                </a:solidFill>
                <a:latin typeface="Microsoft YaHei"/>
              </a:rPr>
              <a:t>年度收益率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08176" y="5038343"/>
            <a:ext cx="109728" cy="73152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63624" y="5010911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68736B"/>
                </a:solidFill>
                <a:latin typeface="Microsoft YaHei"/>
              </a:rPr>
              <a:t>方案A_传统规则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71216" y="5038343"/>
            <a:ext cx="109728" cy="73152"/>
          </a:xfrm>
          <a:prstGeom prst="rect">
            <a:avLst/>
          </a:prstGeom>
          <a:solidFill>
            <a:srgbClr val="47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26664" y="5010911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68736B"/>
                </a:solidFill>
                <a:latin typeface="Microsoft YaHei"/>
              </a:rPr>
              <a:t>方案B_LGBM打分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9480" y="1325880"/>
            <a:ext cx="4078224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1554480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24"/>
                </a:solidFill>
                <a:latin typeface="Microsoft YaHei"/>
              </a:rPr>
              <a:t>A组核心指标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79792" y="1847088"/>
            <a:ext cx="3255264" cy="246888"/>
          </a:xfrm>
          <a:prstGeom prst="roundRect">
            <a:avLst/>
          </a:prstGeom>
          <a:solidFill>
            <a:srgbClr val="20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9792" y="1892808"/>
            <a:ext cx="621792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策略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1892808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累计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9952" y="1892808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年化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1892808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超额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76688" y="1892808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</a:rPr>
              <a:t>回撤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9792" y="2093976"/>
            <a:ext cx="3255264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79792" y="2130552"/>
            <a:ext cx="621792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1F2A24"/>
                </a:solidFill>
                <a:latin typeface="Microsoft YaHei"/>
              </a:rPr>
              <a:t>规则A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1584" y="2130552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2E7D57"/>
                </a:solidFill>
                <a:latin typeface="Microsoft YaHei"/>
              </a:rPr>
              <a:t>88.1%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59952" y="2130552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C49A3A"/>
                </a:solidFill>
                <a:latin typeface="Microsoft YaHei"/>
              </a:rPr>
              <a:t>9.8%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2130552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476A8A"/>
                </a:solidFill>
                <a:latin typeface="Microsoft YaHei"/>
              </a:rPr>
              <a:t>90.5%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76688" y="2130552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A95D55"/>
                </a:solidFill>
                <a:latin typeface="Microsoft YaHei"/>
              </a:rPr>
              <a:t>-30.2%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9792" y="2340864"/>
            <a:ext cx="3255264" cy="246888"/>
          </a:xfrm>
          <a:prstGeom prst="rect">
            <a:avLst/>
          </a:prstGeom>
          <a:solidFill>
            <a:srgbClr val="EEF2EC"/>
          </a:solidFill>
          <a:ln w="508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79792" y="2377440"/>
            <a:ext cx="621792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1">
                <a:solidFill>
                  <a:srgbClr val="1F2A24"/>
                </a:solidFill>
                <a:latin typeface="Microsoft YaHei"/>
              </a:rPr>
              <a:t>LGBM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1584" y="2377440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2E7D57"/>
                </a:solidFill>
                <a:latin typeface="Microsoft YaHei"/>
              </a:rPr>
              <a:t>61.6%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59952" y="2377440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C49A3A"/>
                </a:solidFill>
                <a:latin typeface="Microsoft YaHei"/>
              </a:rPr>
              <a:t>7.4%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2377440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476A8A"/>
                </a:solidFill>
                <a:latin typeface="Microsoft YaHei"/>
              </a:rPr>
              <a:t>64.0%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76688" y="2377440"/>
            <a:ext cx="658368" cy="17373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700" b="0">
                <a:solidFill>
                  <a:srgbClr val="A95D55"/>
                </a:solidFill>
                <a:latin typeface="Microsoft YaHei"/>
              </a:rPr>
              <a:t>-31.0%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69480" y="2999232"/>
            <a:ext cx="1938528" cy="2651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top_group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7" y="3414149"/>
            <a:ext cx="1627632" cy="1693908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9400032" y="2999232"/>
            <a:ext cx="1947672" cy="2651760"/>
          </a:xfrm>
          <a:prstGeom prst="roundRect">
            <a:avLst/>
          </a:prstGeom>
          <a:solidFill>
            <a:srgbClr val="EEF4EE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0" y="3246120"/>
            <a:ext cx="9144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57"/>
                </a:solidFill>
                <a:latin typeface="Microsoft YaHei"/>
              </a:rPr>
              <a:t>读图结论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3657600"/>
            <a:ext cx="1417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F2A24"/>
                </a:solidFill>
                <a:latin typeface="Microsoft YaHei"/>
              </a:rPr>
              <a:t>A组不是只靠单一年份拉高净值，但最大回撤接近30%，说明价值信号仍需叠加行业约束、止损或波动控制。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4754880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下一步：行业中性、样本扩展、持仓集中度敏感性测试。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144768"/>
            <a:ext cx="301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7472"/>
            <a:ext cx="8138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24"/>
                </a:solidFill>
                <a:latin typeface="Microsoft YaHei"/>
              </a:rPr>
              <a:t>最终判断：收益信号存在，现金流验证还不够稳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85953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价值模型的关键不是短期涨跌，而是现金流质量能否转化为长期回报。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5669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8736B"/>
                </a:solidFill>
                <a:latin typeface="Microsoft YaHei"/>
              </a:rPr>
              <a:t>作业6B | 基于FCFF的价值投资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324612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E7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84" y="1664208"/>
            <a:ext cx="960120" cy="256032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677924"/>
            <a:ext cx="96012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有效信息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148840"/>
            <a:ext cx="2606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A24"/>
                </a:solidFill>
                <a:latin typeface="Microsoft YaHei"/>
              </a:rPr>
              <a:t>传统规则A组价格回测表现最好，毛利率、股息率、轻资产等因子具备较稳定IC。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17320"/>
            <a:ext cx="324612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95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18303" y="1664208"/>
            <a:ext cx="960120" cy="256032"/>
          </a:xfrm>
          <a:prstGeom prst="roundRect">
            <a:avLst/>
          </a:prstGeom>
          <a:solidFill>
            <a:srgbClr val="A9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1677924"/>
            <a:ext cx="96012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主要风险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148840"/>
            <a:ext cx="2606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A24"/>
                </a:solidFill>
                <a:latin typeface="Microsoft YaHei"/>
              </a:rPr>
              <a:t>FCFF分层不单调，说明标签噪声、行业结构和极端值仍会干扰模型判断。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24612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4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21623" y="1664208"/>
            <a:ext cx="960120" cy="256032"/>
          </a:xfrm>
          <a:prstGeom prst="roundRect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3" y="1677924"/>
            <a:ext cx="96012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改进方向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2148840"/>
            <a:ext cx="2606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A24"/>
                </a:solidFill>
                <a:latin typeface="Microsoft YaHei"/>
              </a:rPr>
              <a:t>扩大样本、行业中性、滚动验证、持仓集中度控制，并拆分收益来源。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4251960"/>
            <a:ext cx="10131552" cy="1051560"/>
          </a:xfrm>
          <a:prstGeom prst="roundRect">
            <a:avLst/>
          </a:prstGeom>
          <a:solidFill>
            <a:srgbClr val="F8F2E4"/>
          </a:solidFill>
          <a:ln w="8890">
            <a:solidFill>
              <a:srgbClr val="D8C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553712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49A3A"/>
                </a:solidFill>
                <a:latin typeface="Microsoft YaHei"/>
              </a:rPr>
              <a:t>与4B区别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4544568"/>
            <a:ext cx="8046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24"/>
                </a:solidFill>
                <a:latin typeface="Microsoft YaHei"/>
              </a:rPr>
              <a:t>本模型是年度、基本面、低频持有；4B是日频行情与流动性因子，目标、持仓周期和风险来源完全不同。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650992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36B"/>
                </a:solidFill>
                <a:latin typeface="Microsoft YaHei"/>
              </a:rPr>
              <a:t>课堂汇报建议：先承认FCFF验证不完美，再强调样本外价格回测和防泄露口径，这比单纯报收益更可信。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694944"/>
            <a:ext cx="4389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总结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444752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8D3CA"/>
                </a:solidFill>
                <a:latin typeface="Microsoft YaHei"/>
              </a:rPr>
              <a:t>AI负责生成和迭代代码，人工负责口径审查、无泄露约束和金融解释。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240280"/>
            <a:ext cx="2212848" cy="914400"/>
          </a:xfrm>
          <a:prstGeom prst="roundRect">
            <a:avLst/>
          </a:prstGeom>
          <a:solidFill>
            <a:srgbClr val="20352B"/>
          </a:solidFill>
          <a:ln w="8890">
            <a:solidFill>
              <a:srgbClr val="C49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59152"/>
            <a:ext cx="19568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49A3A"/>
                </a:solidFill>
                <a:latin typeface="Microsoft YaHei"/>
              </a:rPr>
              <a:t>9.82%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07208"/>
            <a:ext cx="1993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A组年化收益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3591" y="2240280"/>
            <a:ext cx="2212848" cy="914400"/>
          </a:xfrm>
          <a:prstGeom prst="roundRect">
            <a:avLst/>
          </a:prstGeom>
          <a:solidFill>
            <a:srgbClr val="20352B"/>
          </a:solidFill>
          <a:ln w="8890">
            <a:solidFill>
              <a:srgbClr val="6FA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7" y="2359152"/>
            <a:ext cx="19568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FA081"/>
                </a:solidFill>
                <a:latin typeface="Microsoft YaHei"/>
              </a:rPr>
              <a:t>90.49%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19" y="2807208"/>
            <a:ext cx="1993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相对基准超额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240280"/>
            <a:ext cx="2212848" cy="914400"/>
          </a:xfrm>
          <a:prstGeom prst="roundRect">
            <a:avLst/>
          </a:prstGeom>
          <a:solidFill>
            <a:srgbClr val="20352B"/>
          </a:solidFill>
          <a:ln w="8890">
            <a:solidFill>
              <a:srgbClr val="A95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359152"/>
            <a:ext cx="19568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95D55"/>
                </a:solidFill>
                <a:latin typeface="Microsoft YaHei"/>
              </a:rPr>
              <a:t>-30.21%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07208"/>
            <a:ext cx="19933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最大回撤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86200"/>
            <a:ext cx="10378440" cy="1143000"/>
          </a:xfrm>
          <a:prstGeom prst="roundRect">
            <a:avLst/>
          </a:prstGeom>
          <a:solidFill>
            <a:srgbClr val="20352B"/>
          </a:solidFill>
          <a:ln w="8890">
            <a:solidFill>
              <a:srgbClr val="355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2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49A3A"/>
                </a:solidFill>
                <a:latin typeface="Microsoft YaHei"/>
              </a:rPr>
              <a:t>交付材料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4151376"/>
            <a:ext cx="8183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源码、因子质检表、单因子回归、特征重要度、双策略入选股票、FCFF与股价回测、报告、AI记录和PPT。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4590288"/>
            <a:ext cx="8046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C8D3CA"/>
                </a:solidFill>
                <a:latin typeface="Microsoft YaHei"/>
              </a:rPr>
              <a:t>关键审查点：实际数据范围、未来标签、年度调仓、手续费、沪深300基准。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80760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C8D3CA"/>
                </a:solidFill>
                <a:latin typeface="Microsoft YaHei"/>
              </a:rPr>
              <a:t>202331060205 丁致宇</a:t>
            </a:r>
          </a:p>
        </p:txBody>
      </p:sp>
      <p:sp>
        <p:nvSpPr>
          <p:cNvPr id="19" name="Oval 18"/>
          <p:cNvSpPr/>
          <p:nvPr/>
        </p:nvSpPr>
        <p:spPr>
          <a:xfrm>
            <a:off x="10424160" y="804672"/>
            <a:ext cx="73152" cy="73152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25328" y="804672"/>
            <a:ext cx="73152" cy="73152"/>
          </a:xfrm>
          <a:prstGeom prst="ellipse">
            <a:avLst/>
          </a:prstGeom>
          <a:solidFill>
            <a:srgbClr val="6FA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26496" y="804672"/>
            <a:ext cx="73152" cy="73152"/>
          </a:xfrm>
          <a:prstGeom prst="ellipse">
            <a:avLst/>
          </a:prstGeom>
          <a:solidFill>
            <a:srgbClr val="6FA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24160" y="1005840"/>
            <a:ext cx="73152" cy="73152"/>
          </a:xfrm>
          <a:prstGeom prst="ellipse">
            <a:avLst/>
          </a:prstGeom>
          <a:solidFill>
            <a:srgbClr val="6FA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25328" y="1005840"/>
            <a:ext cx="73152" cy="73152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26496" y="1005840"/>
            <a:ext cx="73152" cy="73152"/>
          </a:xfrm>
          <a:prstGeom prst="ellipse">
            <a:avLst/>
          </a:prstGeom>
          <a:solidFill>
            <a:srgbClr val="6FA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24160" y="1207008"/>
            <a:ext cx="73152" cy="73152"/>
          </a:xfrm>
          <a:prstGeom prst="ellipse">
            <a:avLst/>
          </a:prstGeom>
          <a:solidFill>
            <a:srgbClr val="6FA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25328" y="1207008"/>
            <a:ext cx="73152" cy="73152"/>
          </a:xfrm>
          <a:prstGeom prst="ellipse">
            <a:avLst/>
          </a:prstGeom>
          <a:solidFill>
            <a:srgbClr val="6FA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26496" y="1207008"/>
            <a:ext cx="73152" cy="73152"/>
          </a:xfrm>
          <a:prstGeom prst="ellipse">
            <a:avLst/>
          </a:prstGeom>
          <a:solidFill>
            <a:srgbClr val="C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