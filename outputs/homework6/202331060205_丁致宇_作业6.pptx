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作业6B：基于FCFF的价值投资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DE5D6"/>
                </a:solidFill>
                <a:latin typeface="Microsoft YaHei"/>
              </a:rPr>
              <a:t>传统规则选股 + LGBM多因子价值模型双实证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84124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巴菲特·芒格“三好价值投资”的量化落地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257800"/>
            <a:ext cx="713232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DDE5D6"/>
                </a:solidFill>
                <a:latin typeface="Microsoft YaHei"/>
              </a:rPr>
              <a:t>学生：丁致宇    学号：202331060205</a:t>
            </a:r>
            <a:br/>
            <a:r>
              <a:rPr sz="1300" b="0">
                <a:solidFill>
                  <a:srgbClr val="DDE5D6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343400"/>
            <a:ext cx="18288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D19A32"/>
                </a:solidFill>
                <a:latin typeface="Microsoft YaHei"/>
              </a:rPr>
              <a:t>9.82%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55464"/>
            <a:ext cx="182880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DDE5D6"/>
                </a:solidFill>
                <a:latin typeface="Microsoft YaHei"/>
              </a:rPr>
              <a:t>A组最佳年化收益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0" y="4343400"/>
            <a:ext cx="13716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8FB339"/>
                </a:solidFill>
                <a:latin typeface="Microsoft YaHei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4855464"/>
            <a:ext cx="137160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DDE5D6"/>
                </a:solidFill>
                <a:latin typeface="Microsoft YaHei"/>
              </a:rPr>
              <a:t>覆盖股票数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实验目标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将“三好”理念拆成财务因子，并同时检验传统规则与机器学习打分。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1089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2779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好商业模式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2779776" cy="11704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净利润增速、毛利率、净利率、轻资产、低负债，衡量企业赚钱方式和资产效率。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1089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371600"/>
            <a:ext cx="2779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8FB339"/>
                </a:solidFill>
                <a:latin typeface="Microsoft YaHei"/>
              </a:rPr>
              <a:t>经济护城河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764792"/>
            <a:ext cx="2779776" cy="11704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ROE与费用率，观察公司是否能长期维持资本回报和经营效率。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34440"/>
            <a:ext cx="2971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371600"/>
            <a:ext cx="264261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19A32"/>
                </a:solidFill>
                <a:latin typeface="Microsoft YaHei"/>
              </a:rPr>
              <a:t>长期现金流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764792"/>
            <a:ext cx="2642616" cy="11704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利润含金量、分红率、股息率、FCFF收益率，聚焦真实可分配现金。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14800"/>
            <a:ext cx="4562855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方案A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07992"/>
            <a:ext cx="4562855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固定财务阈值硬筛选，透明稳定但阈值僵硬。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4800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4114800"/>
            <a:ext cx="447141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方案B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507992"/>
            <a:ext cx="4471416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LGBM非线性赋权，能捕捉交互关系但必须控制过拟合。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数据口径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按教师提供文件可复现执行，并显式说明与题目年份的差异。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0690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1B7F5A"/>
                </a:solidFill>
                <a:latin typeface="Microsoft YaHei"/>
              </a:rPr>
              <a:t>2014.03.31-2024.12.31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406908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实际行情区间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280160"/>
            <a:ext cx="196596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D19A32"/>
                </a:solidFill>
                <a:latin typeface="Microsoft YaHei"/>
              </a:rPr>
              <a:t>2014-2024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92224"/>
            <a:ext cx="196596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年度财务截面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16459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8FB339"/>
                </a:solidFill>
                <a:latin typeface="Microsoft YaHei"/>
              </a:rPr>
              <a:t>446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92224"/>
            <a:ext cx="16459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年度面板行数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280160"/>
            <a:ext cx="14630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A23E48"/>
                </a:solidFill>
                <a:latin typeface="Microsoft YaHei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792224"/>
            <a:ext cx="146304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19" b="0">
                <a:solidFill>
                  <a:srgbClr val="475569"/>
                </a:solidFill>
                <a:latin typeface="Microsoft YaHei"/>
              </a:rPr>
              <a:t>股票数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49377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520440"/>
            <a:ext cx="46085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动态成分与防泄露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913632"/>
            <a:ext cx="4608576" cy="9418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年度面板只保留财年12月31日仍在上证50且有行情快照的股票；LGBM训练标签截至2016。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83280"/>
            <a:ext cx="48463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520440"/>
            <a:ext cx="451713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样本外范围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913632"/>
            <a:ext cx="4517136" cy="9418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价格回测覆盖2018-2024，并使用滞后2年的已披露年报得分；3年FCFF标签验证到2021截面。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整体流程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数据加载 → 因子质检 → LGBM打分 → 双策略分组 → FCFF与股价回测。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79"/>
            <a:ext cx="1636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1 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04872"/>
            <a:ext cx="1636776" cy="1399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年度财务、分红、复权行情、沪深300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874519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011679"/>
            <a:ext cx="1636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8FB339"/>
                </a:solidFill>
                <a:latin typeface="Microsoft YaHei"/>
              </a:rPr>
              <a:t>2 因子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04872"/>
            <a:ext cx="1636776" cy="1399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F1-F11正向化、缩尾、Z标准化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874519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011679"/>
            <a:ext cx="1636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19A32"/>
                </a:solidFill>
                <a:latin typeface="Microsoft YaHei"/>
              </a:rPr>
              <a:t>3 质检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404872"/>
            <a:ext cx="1636776" cy="1399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IC/IR、VIF、单因子OLS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7224" y="1874519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71816" y="2011679"/>
            <a:ext cx="1636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4 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2404872"/>
            <a:ext cx="1636776" cy="1399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树深≤3的LGBM非线性赋权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1512" y="1874519"/>
            <a:ext cx="19659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76104" y="2011679"/>
            <a:ext cx="1636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5 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6104" y="2404872"/>
            <a:ext cx="1636776" cy="1399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A/B/C分层，年度调仓等权持有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因子质检结果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IC均值、IR和VIF共同决定因子是否适合进入模型。</a:t>
            </a:r>
          </a:p>
        </p:txBody>
      </p:sp>
      <p:pic>
        <p:nvPicPr>
          <p:cNvPr id="5" name="Picture 4" descr="factor_ic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6893"/>
            <a:ext cx="6400800" cy="314997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78040" y="1325880"/>
          <a:ext cx="4434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因子</a:t>
                      </a:r>
                    </a:p>
                  </a:txBody>
                  <a:tcPr>
                    <a:solidFill>
                      <a:srgbClr val="1B7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IC均值</a:t>
                      </a:r>
                    </a:p>
                  </a:txBody>
                  <a:tcPr>
                    <a:solidFill>
                      <a:srgbClr val="1B7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IR</a:t>
                      </a:r>
                    </a:p>
                  </a:txBody>
                  <a:tcPr>
                    <a:solidFill>
                      <a:srgbClr val="1B7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VIF</a:t>
                      </a:r>
                    </a:p>
                  </a:txBody>
                  <a:tcPr>
                    <a:solidFill>
                      <a:srgbClr val="1B7F5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F2 销售毛利率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0.0953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F10 股息率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0.0681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0.404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2.62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F4 固资/总资产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0.0538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F9 分红率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0.0532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0.636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1.75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F3 销售净利率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0.0230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0.191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1D2B23"/>
                          </a:solidFill>
                          <a:latin typeface="Microsoft YaHei"/>
                        </a:rPr>
                        <a:t>3.46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709160"/>
            <a:ext cx="4023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Microsoft YaHei"/>
              </a:rPr>
              <a:t>表格展示IC均值最高的前5个因子。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LGBM非线性赋权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小样本下限制树深和叶子数，重点看样本外分层而不是训练拟合。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1135"/>
            <a:ext cx="5989320" cy="29443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325880"/>
            <a:ext cx="4206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42631" y="1463039"/>
            <a:ext cx="3877055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时间序列CV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2631" y="1856231"/>
            <a:ext cx="3877055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验证折数：2</a:t>
            </a:r>
            <a:br/>
            <a:r>
              <a:rPr sz="1080" b="0">
                <a:solidFill>
                  <a:srgbClr val="1D2B23"/>
                </a:solidFill>
                <a:latin typeface="Microsoft YaHei"/>
              </a:rPr>
              <a:t>平均验证MSE：595.8789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3063240"/>
            <a:ext cx="42062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3200400"/>
            <a:ext cx="3877055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控参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3593592"/>
            <a:ext cx="3877055" cy="8503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max_depth=3，num_leaves=7，min_data_in_leaf=5，L2正则控制过拟合。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两套选股方案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同一年度截面，同一A/B/C分组；价格回测按年报披露可得性使用滞后2年得分。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48463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451713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方案A：固定阈值硬筛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719072"/>
            <a:ext cx="4517136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A组必须全部通过净利润增长、净利率、轻资产、低负债、ROE、费用、现金流、分红、股息率和FCFF阈值；B/C为未通过股票的对照分层。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48006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325880"/>
            <a:ext cx="447141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方案B：LGBM综合打分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719072"/>
            <a:ext cx="4471416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使用过VIF质检的标准化因子预测未来1年FCFF增速，分数越高表示中长期价值预期越好。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0332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14800"/>
            <a:ext cx="1000353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19A32"/>
                </a:solidFill>
                <a:latin typeface="Microsoft YaHei"/>
              </a:rPr>
              <a:t>统一回测规则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07992"/>
            <a:ext cx="10003536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2018持仓使用2016财年得分，之后逐年滚动；等权持有，初始资金100万，单边手续费0.1%，基准为沪深300。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FCFF分层回测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检验A组真实未来3年FCFF年化增速是否高于B、C组。</a:t>
            </a:r>
          </a:p>
        </p:txBody>
      </p:sp>
      <p:pic>
        <p:nvPicPr>
          <p:cNvPr id="5" name="Picture 4" descr="fcff_group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5792"/>
            <a:ext cx="10789920" cy="41064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股价收益回测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A组组合与沪深300基准的样本外净值对比。</a:t>
            </a:r>
          </a:p>
        </p:txBody>
      </p:sp>
      <p:pic>
        <p:nvPicPr>
          <p:cNvPr id="5" name="Picture 4" descr="price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8436"/>
            <a:ext cx="10789920" cy="49211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年度收益与核心指标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年度收益用于观察策略是否只依赖单一年份。</a:t>
            </a:r>
          </a:p>
        </p:txBody>
      </p:sp>
      <p:pic>
        <p:nvPicPr>
          <p:cNvPr id="5" name="Picture 4" descr="annual_returns_A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7171"/>
            <a:ext cx="5806440" cy="2383696"/>
          </a:xfrm>
          <a:prstGeom prst="rect">
            <a:avLst/>
          </a:prstGeom>
        </p:spPr>
      </p:pic>
      <p:pic>
        <p:nvPicPr>
          <p:cNvPr id="6" name="Picture 5" descr="price_metric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6448"/>
            <a:ext cx="5166360" cy="1181982"/>
          </a:xfrm>
          <a:prstGeom prst="rect">
            <a:avLst/>
          </a:prstGeom>
        </p:spPr>
      </p:pic>
      <p:pic>
        <p:nvPicPr>
          <p:cNvPr id="7" name="Picture 6" descr="top_group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345" y="3520440"/>
            <a:ext cx="263586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D2B23"/>
                </a:solidFill>
                <a:latin typeface="Microsoft YaHei"/>
              </a:rPr>
              <a:t>结果分析与思考题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价值模型的关键不是短期涨跌，而是企业现金流质量能否转化为长期回报。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80160"/>
            <a:ext cx="30083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护城河优先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73352"/>
            <a:ext cx="300837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高ROE和费用控制代表企业能长期保留竞争优势，区别于只看价格惯性的短线策略。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280160"/>
            <a:ext cx="30083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19A32"/>
                </a:solidFill>
                <a:latin typeface="Microsoft YaHei"/>
              </a:rPr>
              <a:t>现金流优先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673352"/>
            <a:ext cx="300837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净利润容易受会计确认影响，FCFF更接近股东真实可分配资金。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43000"/>
            <a:ext cx="3108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280160"/>
            <a:ext cx="277977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A23E48"/>
                </a:solidFill>
                <a:latin typeface="Microsoft YaHei"/>
              </a:rPr>
              <a:t>模型差异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673352"/>
            <a:ext cx="277977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传统规则稳定可解释，LGBM灵活但更依赖样本外检验和正则控制。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14800"/>
            <a:ext cx="4562855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1B7F5A"/>
                </a:solidFill>
                <a:latin typeface="Microsoft YaHei"/>
              </a:rPr>
              <a:t>与4B区别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07992"/>
            <a:ext cx="4562855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本模型是年度、基本面、低频持有；4B是日频行情和流动性因子，持仓周期短。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4800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114800"/>
            <a:ext cx="4471416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8FB339"/>
                </a:solidFill>
                <a:latin typeface="Microsoft YaHei"/>
              </a:rPr>
              <a:t>最终结论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07992"/>
            <a:ext cx="4471416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D2B23"/>
                </a:solidFill>
                <a:latin typeface="Microsoft YaHei"/>
              </a:rPr>
              <a:t>价值因子可以构成候选股票池，但必须结合样本外验证、行业暴露和现金流质量判断。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07040" cy="530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总结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DE5D6"/>
                </a:solidFill>
                <a:latin typeface="Microsoft YaHei"/>
              </a:rPr>
              <a:t>AI负责生成和迭代代码，人工负责口径审查、无泄露约束和金融解释。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241280" cy="777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交付材料：源码、因子质检表、单因子回归、特征重要度、双策略入选股票、FCFF与股价回测、报告、AI记录和PPT。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98755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DDE5D6"/>
                </a:solidFill>
                <a:latin typeface="Microsoft YaHei"/>
              </a:rPr>
              <a:t>关键审查点：实际数据范围、未来标签、年度调仓、手续费、沪深300基准。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