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作业8：协整检验与配对交易模型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D1D5DB"/>
                </a:solidFill>
                <a:latin typeface="Microsoft YaHei"/>
              </a:rPr>
              <a:t>统计套利之协整套利投资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87552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EG两步法协整检验 → 最优配对 → 价差z-score择时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321808"/>
            <a:ext cx="71323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Microsoft YaHei"/>
              </a:rPr>
              <a:t>学生：丁致宇    学号：202331060205</a:t>
            </a:r>
            <a:br/>
            <a:r>
              <a:rPr sz="1300" b="0">
                <a:solidFill>
                  <a:srgbClr val="D1D5DB"/>
                </a:solidFill>
                <a:latin typeface="Microsoft YaHei"/>
              </a:rPr>
              <a:t>课程：金融与经济数据挖掘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434840"/>
            <a:ext cx="123444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600" b="1">
                <a:solidFill>
                  <a:srgbClr val="D97706"/>
                </a:solidFill>
                <a:latin typeface="Microsoft YaHe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946904"/>
            <a:ext cx="1234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475569"/>
                </a:solidFill>
                <a:latin typeface="Microsoft YaHei"/>
              </a:rPr>
              <a:t>检验配对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4434840"/>
            <a:ext cx="123444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600" b="1">
                <a:solidFill>
                  <a:srgbClr val="059669"/>
                </a:solidFill>
                <a:latin typeface="Microsoft Ya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4946904"/>
            <a:ext cx="1234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475569"/>
                </a:solidFill>
                <a:latin typeface="Microsoft YaHei"/>
              </a:rPr>
              <a:t>显著协整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4434840"/>
            <a:ext cx="100584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Microsoft YaHei"/>
              </a:rPr>
              <a:t>0.0001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4946904"/>
            <a:ext cx="10058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475569"/>
                </a:solidFill>
                <a:latin typeface="Microsoft YaHei"/>
              </a:rPr>
              <a:t>最优p值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实验流程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从价格非平稳前提出发，寻找平稳价差并生成交易信号。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242316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9304"/>
            <a:ext cx="209397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YaHei"/>
              </a:rPr>
              <a:t>1. 数据获取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73352"/>
            <a:ext cx="2093976" cy="9326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Microsoft YaHei"/>
              </a:rPr>
              <a:t>获取标的池2015-2018日度收盘价，并按交易日期对齐。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43000"/>
            <a:ext cx="242316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289304"/>
            <a:ext cx="209397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Microsoft YaHei"/>
              </a:rPr>
              <a:t>2. EG检验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73352"/>
            <a:ext cx="2093976" cy="9326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Microsoft YaHei"/>
              </a:rPr>
              <a:t>OLS拟合Y=α+βX+ε，对残差ε做ADF检验。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143000"/>
            <a:ext cx="242316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289304"/>
            <a:ext cx="209397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Microsoft YaHei"/>
              </a:rPr>
              <a:t>3. 最优配对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673352"/>
            <a:ext cx="2093976" cy="9326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Microsoft YaHei"/>
              </a:rPr>
              <a:t>按残差ADF p值升序排序，选显著性最强的一组。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143000"/>
            <a:ext cx="242316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1289304"/>
            <a:ext cx="209397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Microsoft YaHei"/>
              </a:rPr>
              <a:t>4. 交易信号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1673352"/>
            <a:ext cx="2093976" cy="9326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Microsoft YaHei"/>
              </a:rPr>
              <a:t>价差z-score超过±2开仓，回归0附近平仓观察。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86200"/>
            <a:ext cx="4983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032504"/>
            <a:ext cx="465429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Microsoft YaHei"/>
              </a:rPr>
              <a:t>标的池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416552"/>
            <a:ext cx="4654296" cy="5212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Microsoft YaHei"/>
              </a:rPr>
              <a:t>中国石油、贵州茅台、泸州老窖、兴蓉环境、招商银行、工商银行、长江电力、上证50指数。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886200"/>
            <a:ext cx="48006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4032504"/>
            <a:ext cx="447141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YaHei"/>
              </a:rPr>
              <a:t>判断标准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416552"/>
            <a:ext cx="4471416" cy="5212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Microsoft YaHei"/>
              </a:rPr>
              <a:t>残差p值&lt;0.05且ADF统计量小于5%临界值，说明价差平稳，配对具备统计套利基础。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协整检验结果Top10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按残差ADF p值排序，p值越小，协整显著性越强。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排名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Y资产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X资产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beta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R²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p值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中国石油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兴蓉环境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1.030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协整显著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泸州老窖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贵州茅台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0.101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0.970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0.0009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协整显著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招商银行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泸州老窖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0.0150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协整显著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招商银行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贵州茅台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0.027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0.861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0.0367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协整显著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兴蓉环境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泸州老窖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-0.042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0.1254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未通过协整检验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兴蓉环境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贵州茅台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-0.005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0.171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0.1397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未通过协整检验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兴蓉环境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招商银行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-0.100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0.1493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未通过协整检验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工商银行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招商银行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0.128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0.739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0.1566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未通过协整检验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工商银行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泸州老窖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0.1702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未通过协整检验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兴蓉环境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长江电力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-0.183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0.034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0.1928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未通过协整检验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协整p值排序图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红色虚线为0.05显著性阈值。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integration_pvalues_to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988" y="1234440"/>
            <a:ext cx="841354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最优配对标准化价格走势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中国石油（601857.SH） vs 兴蓉环境（000598.SZ）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st_pair_standardized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644" y="1234440"/>
            <a:ext cx="893023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线性拟合与价差平稳性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价差即OLS残差，是配对交易的核心监控对象。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41732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600" b="1">
                <a:solidFill>
                  <a:srgbClr val="059669"/>
                </a:solidFill>
                <a:latin typeface="Microsoft YaHei"/>
              </a:rPr>
              <a:t>1.030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55064"/>
            <a:ext cx="14173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475569"/>
                </a:solidFill>
                <a:latin typeface="Microsoft YaHei"/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143000"/>
            <a:ext cx="141732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Microsoft YaHei"/>
              </a:rPr>
              <a:t>0.725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655064"/>
            <a:ext cx="14173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475569"/>
                </a:solidFill>
                <a:latin typeface="Microsoft YaHei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143000"/>
            <a:ext cx="141732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Microsoft YaHei"/>
              </a:rPr>
              <a:t>0.0001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55064"/>
            <a:ext cx="14173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475569"/>
                </a:solidFill>
                <a:latin typeface="Microsoft YaHei"/>
              </a:rPr>
              <a:t>ADF p值</a:t>
            </a:r>
          </a:p>
        </p:txBody>
      </p:sp>
      <p:pic>
        <p:nvPicPr>
          <p:cNvPr id="12" name="Picture 11" descr="best_pair_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735" y="2148840"/>
            <a:ext cx="7556049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z-score交易信号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z-score超过±2时价差偏离较大，回归0附近时平仓观察。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st_pair_zscore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575" y="1234440"/>
            <a:ext cx="956036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深度问答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协整关系需要持续维护，不能把历史显著性当作未来保证。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9304"/>
            <a:ext cx="305409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Microsoft YaHei"/>
              </a:rPr>
              <a:t>为何出现配对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73352"/>
            <a:ext cx="3054096" cy="88696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Microsoft YaHei"/>
              </a:rPr>
              <a:t>共同基本面、同行业/同指数、相似风险因子暴露，使线性价差可能均值回复。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4300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289304"/>
            <a:ext cx="305409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Microsoft YaHei"/>
              </a:rPr>
              <a:t>未来一定重现吗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673352"/>
            <a:ext cx="3054096" cy="88696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Microsoft YaHei"/>
              </a:rPr>
              <a:t>不一定。协整是历史统计关系，基本面、流动性、监管和资金结构变化都可能破坏关系。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43000"/>
            <a:ext cx="30632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89304"/>
            <a:ext cx="273405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Microsoft YaHei"/>
              </a:rPr>
              <a:t>失效因素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673352"/>
            <a:ext cx="2734056" cy="88696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Microsoft YaHei"/>
              </a:rPr>
              <a:t>重大事件、行业分化、交易拥挤、极端行情、样本过拟合、成本上升。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94760"/>
            <a:ext cx="102870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941064"/>
            <a:ext cx="995781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YaHei"/>
              </a:rPr>
              <a:t>维护模型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325112"/>
            <a:ext cx="9957816" cy="5212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Microsoft YaHei"/>
              </a:rPr>
              <a:t>滚动重估协整关系和对冲系数，监控残差ADF p值、z-score分布、价差均值漂移、交易成本与止损规则；关系恶化时暂停或更换配对。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